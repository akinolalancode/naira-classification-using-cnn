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9" r:id="rId7"/>
    <p:sldId id="262" r:id="rId8"/>
    <p:sldId id="263" r:id="rId9"/>
    <p:sldId id="267" r:id="rId10"/>
    <p:sldId id="266" r:id="rId11"/>
    <p:sldId id="264" r:id="rId12"/>
    <p:sldId id="265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11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962650" cy="6858000"/>
          </a:xfrm>
          <a:custGeom>
            <a:avLst/>
            <a:gdLst/>
            <a:ahLst/>
            <a:cxnLst/>
            <a:rect l="l" t="t" r="r" b="b"/>
            <a:pathLst>
              <a:path w="5962650" h="6858000">
                <a:moveTo>
                  <a:pt x="4917945" y="0"/>
                </a:moveTo>
                <a:lnTo>
                  <a:pt x="0" y="0"/>
                </a:lnTo>
                <a:lnTo>
                  <a:pt x="0" y="6857999"/>
                </a:lnTo>
                <a:lnTo>
                  <a:pt x="4492899" y="6857999"/>
                </a:lnTo>
                <a:lnTo>
                  <a:pt x="4546778" y="6823983"/>
                </a:lnTo>
                <a:lnTo>
                  <a:pt x="4591452" y="6797739"/>
                </a:lnTo>
                <a:lnTo>
                  <a:pt x="4636773" y="6773521"/>
                </a:lnTo>
                <a:lnTo>
                  <a:pt x="4682980" y="6752007"/>
                </a:lnTo>
                <a:lnTo>
                  <a:pt x="4767235" y="6719959"/>
                </a:lnTo>
                <a:lnTo>
                  <a:pt x="4802125" y="6702010"/>
                </a:lnTo>
                <a:lnTo>
                  <a:pt x="4833301" y="6678639"/>
                </a:lnTo>
                <a:lnTo>
                  <a:pt x="4859087" y="6648458"/>
                </a:lnTo>
                <a:lnTo>
                  <a:pt x="4877803" y="6610080"/>
                </a:lnTo>
                <a:lnTo>
                  <a:pt x="4887772" y="6562118"/>
                </a:lnTo>
                <a:lnTo>
                  <a:pt x="4887314" y="6503185"/>
                </a:lnTo>
                <a:lnTo>
                  <a:pt x="4889813" y="6473279"/>
                </a:lnTo>
                <a:lnTo>
                  <a:pt x="4900761" y="6450470"/>
                </a:lnTo>
                <a:lnTo>
                  <a:pt x="4918796" y="6437799"/>
                </a:lnTo>
                <a:lnTo>
                  <a:pt x="4942555" y="6438305"/>
                </a:lnTo>
                <a:lnTo>
                  <a:pt x="4986803" y="6440501"/>
                </a:lnTo>
                <a:lnTo>
                  <a:pt x="5021784" y="6420733"/>
                </a:lnTo>
                <a:lnTo>
                  <a:pt x="5051312" y="6388124"/>
                </a:lnTo>
                <a:lnTo>
                  <a:pt x="5079206" y="6351797"/>
                </a:lnTo>
                <a:lnTo>
                  <a:pt x="5112615" y="6310396"/>
                </a:lnTo>
                <a:lnTo>
                  <a:pt x="5146831" y="6270496"/>
                </a:lnTo>
                <a:lnTo>
                  <a:pt x="5183147" y="6234201"/>
                </a:lnTo>
                <a:lnTo>
                  <a:pt x="5222856" y="6203613"/>
                </a:lnTo>
                <a:lnTo>
                  <a:pt x="5267248" y="6180834"/>
                </a:lnTo>
                <a:lnTo>
                  <a:pt x="5317618" y="6167968"/>
                </a:lnTo>
                <a:lnTo>
                  <a:pt x="5299901" y="6131811"/>
                </a:lnTo>
                <a:lnTo>
                  <a:pt x="5278367" y="6116605"/>
                </a:lnTo>
                <a:lnTo>
                  <a:pt x="5254653" y="6116267"/>
                </a:lnTo>
                <a:lnTo>
                  <a:pt x="5230393" y="6124715"/>
                </a:lnTo>
                <a:lnTo>
                  <a:pt x="5179804" y="6146717"/>
                </a:lnTo>
                <a:lnTo>
                  <a:pt x="5028035" y="6214453"/>
                </a:lnTo>
                <a:lnTo>
                  <a:pt x="4977446" y="6236454"/>
                </a:lnTo>
                <a:lnTo>
                  <a:pt x="4935741" y="6253632"/>
                </a:lnTo>
                <a:lnTo>
                  <a:pt x="4892402" y="6268444"/>
                </a:lnTo>
                <a:lnTo>
                  <a:pt x="4845792" y="6274470"/>
                </a:lnTo>
                <a:lnTo>
                  <a:pt x="4794275" y="6265290"/>
                </a:lnTo>
                <a:lnTo>
                  <a:pt x="4824172" y="6215731"/>
                </a:lnTo>
                <a:lnTo>
                  <a:pt x="4858290" y="6176891"/>
                </a:lnTo>
                <a:lnTo>
                  <a:pt x="4895511" y="6146689"/>
                </a:lnTo>
                <a:lnTo>
                  <a:pt x="4934715" y="6123045"/>
                </a:lnTo>
                <a:lnTo>
                  <a:pt x="4974783" y="6103877"/>
                </a:lnTo>
                <a:lnTo>
                  <a:pt x="5053039" y="6070648"/>
                </a:lnTo>
                <a:lnTo>
                  <a:pt x="5096642" y="6046457"/>
                </a:lnTo>
                <a:lnTo>
                  <a:pt x="5135923" y="6017474"/>
                </a:lnTo>
                <a:lnTo>
                  <a:pt x="5171897" y="5984203"/>
                </a:lnTo>
                <a:lnTo>
                  <a:pt x="5205583" y="5947150"/>
                </a:lnTo>
                <a:lnTo>
                  <a:pt x="5237997" y="5906818"/>
                </a:lnTo>
                <a:lnTo>
                  <a:pt x="5270157" y="5863711"/>
                </a:lnTo>
                <a:lnTo>
                  <a:pt x="5303080" y="5818334"/>
                </a:lnTo>
                <a:lnTo>
                  <a:pt x="5259119" y="5812481"/>
                </a:lnTo>
                <a:lnTo>
                  <a:pt x="5220043" y="5823410"/>
                </a:lnTo>
                <a:lnTo>
                  <a:pt x="5183758" y="5841951"/>
                </a:lnTo>
                <a:lnTo>
                  <a:pt x="5148171" y="5858935"/>
                </a:lnTo>
                <a:lnTo>
                  <a:pt x="5111187" y="5865192"/>
                </a:lnTo>
                <a:lnTo>
                  <a:pt x="5102466" y="5832752"/>
                </a:lnTo>
                <a:lnTo>
                  <a:pt x="5143848" y="5805020"/>
                </a:lnTo>
                <a:lnTo>
                  <a:pt x="5178619" y="5771550"/>
                </a:lnTo>
                <a:lnTo>
                  <a:pt x="5207287" y="5732783"/>
                </a:lnTo>
                <a:lnTo>
                  <a:pt x="5230360" y="5689162"/>
                </a:lnTo>
                <a:lnTo>
                  <a:pt x="5248347" y="5641126"/>
                </a:lnTo>
                <a:lnTo>
                  <a:pt x="5261757" y="5589119"/>
                </a:lnTo>
                <a:lnTo>
                  <a:pt x="5271099" y="5533580"/>
                </a:lnTo>
                <a:lnTo>
                  <a:pt x="5280956" y="5490100"/>
                </a:lnTo>
                <a:lnTo>
                  <a:pt x="5299809" y="5458787"/>
                </a:lnTo>
                <a:lnTo>
                  <a:pt x="5324658" y="5434232"/>
                </a:lnTo>
                <a:lnTo>
                  <a:pt x="5352506" y="5411029"/>
                </a:lnTo>
                <a:lnTo>
                  <a:pt x="5391108" y="5377770"/>
                </a:lnTo>
                <a:lnTo>
                  <a:pt x="5468976" y="5311728"/>
                </a:lnTo>
                <a:lnTo>
                  <a:pt x="5507788" y="5278210"/>
                </a:lnTo>
                <a:lnTo>
                  <a:pt x="5546216" y="5243870"/>
                </a:lnTo>
                <a:lnTo>
                  <a:pt x="5584033" y="5208341"/>
                </a:lnTo>
                <a:lnTo>
                  <a:pt x="5621013" y="5171254"/>
                </a:lnTo>
                <a:lnTo>
                  <a:pt x="5656929" y="5132243"/>
                </a:lnTo>
                <a:lnTo>
                  <a:pt x="5691554" y="5090939"/>
                </a:lnTo>
                <a:lnTo>
                  <a:pt x="5724662" y="5046976"/>
                </a:lnTo>
                <a:lnTo>
                  <a:pt x="5678892" y="5057345"/>
                </a:lnTo>
                <a:lnTo>
                  <a:pt x="5634894" y="5073840"/>
                </a:lnTo>
                <a:lnTo>
                  <a:pt x="5591986" y="5094812"/>
                </a:lnTo>
                <a:lnTo>
                  <a:pt x="5549487" y="5118614"/>
                </a:lnTo>
                <a:lnTo>
                  <a:pt x="5506716" y="5143599"/>
                </a:lnTo>
                <a:lnTo>
                  <a:pt x="5462990" y="5168120"/>
                </a:lnTo>
                <a:lnTo>
                  <a:pt x="5417630" y="5190528"/>
                </a:lnTo>
                <a:lnTo>
                  <a:pt x="5369952" y="5209176"/>
                </a:lnTo>
                <a:lnTo>
                  <a:pt x="5402268" y="5161720"/>
                </a:lnTo>
                <a:lnTo>
                  <a:pt x="5436241" y="5118459"/>
                </a:lnTo>
                <a:lnTo>
                  <a:pt x="5471610" y="5078831"/>
                </a:lnTo>
                <a:lnTo>
                  <a:pt x="5508114" y="5042275"/>
                </a:lnTo>
                <a:lnTo>
                  <a:pt x="5545489" y="5008227"/>
                </a:lnTo>
                <a:lnTo>
                  <a:pt x="5583475" y="4976125"/>
                </a:lnTo>
                <a:lnTo>
                  <a:pt x="5621810" y="4945408"/>
                </a:lnTo>
                <a:lnTo>
                  <a:pt x="5698480" y="4885877"/>
                </a:lnTo>
                <a:lnTo>
                  <a:pt x="5736291" y="4855938"/>
                </a:lnTo>
                <a:lnTo>
                  <a:pt x="5821697" y="4782947"/>
                </a:lnTo>
                <a:lnTo>
                  <a:pt x="5865899" y="4750507"/>
                </a:lnTo>
                <a:lnTo>
                  <a:pt x="5913645" y="4726176"/>
                </a:lnTo>
                <a:lnTo>
                  <a:pt x="5933134" y="4718404"/>
                </a:lnTo>
                <a:lnTo>
                  <a:pt x="5951806" y="4704550"/>
                </a:lnTo>
                <a:lnTo>
                  <a:pt x="5962299" y="4682586"/>
                </a:lnTo>
                <a:lnTo>
                  <a:pt x="5957257" y="4650483"/>
                </a:lnTo>
                <a:lnTo>
                  <a:pt x="5941720" y="4627899"/>
                </a:lnTo>
                <a:lnTo>
                  <a:pt x="5922367" y="4621197"/>
                </a:lnTo>
                <a:lnTo>
                  <a:pt x="5900834" y="4624632"/>
                </a:lnTo>
                <a:lnTo>
                  <a:pt x="5878756" y="4632459"/>
                </a:lnTo>
                <a:lnTo>
                  <a:pt x="5836074" y="4646531"/>
                </a:lnTo>
                <a:lnTo>
                  <a:pt x="5791300" y="4655067"/>
                </a:lnTo>
                <a:lnTo>
                  <a:pt x="5743734" y="4659450"/>
                </a:lnTo>
                <a:lnTo>
                  <a:pt x="5692680" y="4661065"/>
                </a:lnTo>
                <a:lnTo>
                  <a:pt x="5637438" y="4661296"/>
                </a:lnTo>
                <a:lnTo>
                  <a:pt x="5666851" y="4621810"/>
                </a:lnTo>
                <a:lnTo>
                  <a:pt x="5700021" y="4592647"/>
                </a:lnTo>
                <a:lnTo>
                  <a:pt x="5735752" y="4570783"/>
                </a:lnTo>
                <a:lnTo>
                  <a:pt x="5772847" y="4553191"/>
                </a:lnTo>
                <a:lnTo>
                  <a:pt x="5810110" y="4536845"/>
                </a:lnTo>
                <a:lnTo>
                  <a:pt x="5846343" y="4518719"/>
                </a:lnTo>
                <a:lnTo>
                  <a:pt x="5880351" y="4495787"/>
                </a:lnTo>
                <a:lnTo>
                  <a:pt x="5910938" y="4465023"/>
                </a:lnTo>
                <a:lnTo>
                  <a:pt x="5936905" y="4423401"/>
                </a:lnTo>
                <a:lnTo>
                  <a:pt x="5886827" y="4416422"/>
                </a:lnTo>
                <a:lnTo>
                  <a:pt x="5840517" y="4422074"/>
                </a:lnTo>
                <a:lnTo>
                  <a:pt x="5796859" y="4434820"/>
                </a:lnTo>
                <a:lnTo>
                  <a:pt x="5754735" y="4449122"/>
                </a:lnTo>
                <a:lnTo>
                  <a:pt x="5713031" y="4459446"/>
                </a:lnTo>
                <a:lnTo>
                  <a:pt x="5674007" y="4460515"/>
                </a:lnTo>
                <a:lnTo>
                  <a:pt x="5651611" y="4446379"/>
                </a:lnTo>
                <a:lnTo>
                  <a:pt x="5643934" y="4415347"/>
                </a:lnTo>
                <a:lnTo>
                  <a:pt x="5649066" y="4365729"/>
                </a:lnTo>
                <a:lnTo>
                  <a:pt x="5655850" y="4309709"/>
                </a:lnTo>
                <a:lnTo>
                  <a:pt x="5652943" y="4264803"/>
                </a:lnTo>
                <a:lnTo>
                  <a:pt x="5640345" y="4231912"/>
                </a:lnTo>
                <a:lnTo>
                  <a:pt x="5618054" y="4211937"/>
                </a:lnTo>
                <a:lnTo>
                  <a:pt x="5586072" y="4205780"/>
                </a:lnTo>
                <a:lnTo>
                  <a:pt x="5492973" y="4224703"/>
                </a:lnTo>
                <a:lnTo>
                  <a:pt x="5466624" y="4210735"/>
                </a:lnTo>
                <a:lnTo>
                  <a:pt x="5460991" y="4177845"/>
                </a:lnTo>
                <a:lnTo>
                  <a:pt x="5471712" y="4131438"/>
                </a:lnTo>
                <a:lnTo>
                  <a:pt x="5483490" y="4082643"/>
                </a:lnTo>
                <a:lnTo>
                  <a:pt x="5485495" y="4036653"/>
                </a:lnTo>
                <a:lnTo>
                  <a:pt x="5480071" y="3992665"/>
                </a:lnTo>
                <a:lnTo>
                  <a:pt x="5469559" y="3949878"/>
                </a:lnTo>
                <a:lnTo>
                  <a:pt x="5456300" y="3907492"/>
                </a:lnTo>
                <a:lnTo>
                  <a:pt x="5442638" y="3864706"/>
                </a:lnTo>
                <a:lnTo>
                  <a:pt x="5428778" y="3812782"/>
                </a:lnTo>
                <a:lnTo>
                  <a:pt x="5422192" y="3767101"/>
                </a:lnTo>
                <a:lnTo>
                  <a:pt x="5423031" y="3725959"/>
                </a:lnTo>
                <a:lnTo>
                  <a:pt x="5431448" y="3687655"/>
                </a:lnTo>
                <a:lnTo>
                  <a:pt x="5447596" y="3650485"/>
                </a:lnTo>
                <a:lnTo>
                  <a:pt x="5471627" y="3612749"/>
                </a:lnTo>
                <a:lnTo>
                  <a:pt x="5503694" y="3572742"/>
                </a:lnTo>
                <a:lnTo>
                  <a:pt x="5541082" y="3533431"/>
                </a:lnTo>
                <a:lnTo>
                  <a:pt x="5580378" y="3496147"/>
                </a:lnTo>
                <a:lnTo>
                  <a:pt x="5623490" y="3460215"/>
                </a:lnTo>
                <a:lnTo>
                  <a:pt x="5672326" y="3424958"/>
                </a:lnTo>
                <a:lnTo>
                  <a:pt x="5626557" y="3412807"/>
                </a:lnTo>
                <a:lnTo>
                  <a:pt x="5604910" y="3396010"/>
                </a:lnTo>
                <a:lnTo>
                  <a:pt x="5600980" y="3375665"/>
                </a:lnTo>
                <a:lnTo>
                  <a:pt x="5608363" y="3352869"/>
                </a:lnTo>
                <a:lnTo>
                  <a:pt x="5620651" y="3328722"/>
                </a:lnTo>
                <a:lnTo>
                  <a:pt x="5631441" y="3304321"/>
                </a:lnTo>
                <a:lnTo>
                  <a:pt x="5634326" y="3280765"/>
                </a:lnTo>
                <a:lnTo>
                  <a:pt x="5622900" y="3259152"/>
                </a:lnTo>
                <a:lnTo>
                  <a:pt x="5585845" y="3258579"/>
                </a:lnTo>
                <a:lnTo>
                  <a:pt x="5549795" y="3268982"/>
                </a:lnTo>
                <a:lnTo>
                  <a:pt x="5514032" y="3286921"/>
                </a:lnTo>
                <a:lnTo>
                  <a:pt x="5440496" y="3331638"/>
                </a:lnTo>
                <a:lnTo>
                  <a:pt x="5401287" y="3351534"/>
                </a:lnTo>
                <a:lnTo>
                  <a:pt x="5359494" y="3365201"/>
                </a:lnTo>
                <a:lnTo>
                  <a:pt x="5314399" y="3369196"/>
                </a:lnTo>
                <a:lnTo>
                  <a:pt x="5265284" y="3360078"/>
                </a:lnTo>
                <a:lnTo>
                  <a:pt x="5305478" y="3329863"/>
                </a:lnTo>
                <a:lnTo>
                  <a:pt x="5346175" y="3302185"/>
                </a:lnTo>
                <a:lnTo>
                  <a:pt x="5387164" y="3276494"/>
                </a:lnTo>
                <a:lnTo>
                  <a:pt x="5428236" y="3252237"/>
                </a:lnTo>
                <a:lnTo>
                  <a:pt x="5509788" y="3205820"/>
                </a:lnTo>
                <a:lnTo>
                  <a:pt x="5549850" y="3182556"/>
                </a:lnTo>
                <a:lnTo>
                  <a:pt x="5589154" y="3158521"/>
                </a:lnTo>
                <a:lnTo>
                  <a:pt x="5627493" y="3133160"/>
                </a:lnTo>
                <a:lnTo>
                  <a:pt x="5664655" y="3105925"/>
                </a:lnTo>
                <a:lnTo>
                  <a:pt x="5700432" y="3076261"/>
                </a:lnTo>
                <a:lnTo>
                  <a:pt x="5734612" y="3043619"/>
                </a:lnTo>
                <a:lnTo>
                  <a:pt x="5766988" y="3007445"/>
                </a:lnTo>
                <a:lnTo>
                  <a:pt x="5797347" y="2967189"/>
                </a:lnTo>
                <a:lnTo>
                  <a:pt x="5773452" y="2948661"/>
                </a:lnTo>
                <a:lnTo>
                  <a:pt x="5750101" y="2948717"/>
                </a:lnTo>
                <a:lnTo>
                  <a:pt x="5727841" y="2953504"/>
                </a:lnTo>
                <a:lnTo>
                  <a:pt x="5701200" y="2947867"/>
                </a:lnTo>
                <a:lnTo>
                  <a:pt x="5659244" y="2949223"/>
                </a:lnTo>
                <a:lnTo>
                  <a:pt x="5627423" y="2948900"/>
                </a:lnTo>
                <a:lnTo>
                  <a:pt x="5591120" y="2945924"/>
                </a:lnTo>
                <a:lnTo>
                  <a:pt x="5552394" y="2938804"/>
                </a:lnTo>
                <a:lnTo>
                  <a:pt x="5513305" y="2926053"/>
                </a:lnTo>
                <a:lnTo>
                  <a:pt x="5475912" y="2906181"/>
                </a:lnTo>
                <a:lnTo>
                  <a:pt x="5442274" y="2877697"/>
                </a:lnTo>
                <a:lnTo>
                  <a:pt x="5414451" y="2839114"/>
                </a:lnTo>
                <a:lnTo>
                  <a:pt x="5394503" y="2788941"/>
                </a:lnTo>
                <a:lnTo>
                  <a:pt x="5384488" y="2725690"/>
                </a:lnTo>
                <a:lnTo>
                  <a:pt x="5372859" y="2725690"/>
                </a:lnTo>
                <a:lnTo>
                  <a:pt x="5367045" y="2714876"/>
                </a:lnTo>
                <a:lnTo>
                  <a:pt x="5352280" y="2677198"/>
                </a:lnTo>
                <a:lnTo>
                  <a:pt x="5347055" y="2632424"/>
                </a:lnTo>
                <a:lnTo>
                  <a:pt x="5338015" y="2593731"/>
                </a:lnTo>
                <a:lnTo>
                  <a:pt x="5311802" y="2574301"/>
                </a:lnTo>
                <a:lnTo>
                  <a:pt x="5268599" y="2565346"/>
                </a:lnTo>
                <a:lnTo>
                  <a:pt x="5225669" y="2554026"/>
                </a:lnTo>
                <a:lnTo>
                  <a:pt x="5182193" y="2547436"/>
                </a:lnTo>
                <a:lnTo>
                  <a:pt x="5137355" y="2552673"/>
                </a:lnTo>
                <a:lnTo>
                  <a:pt x="5101966" y="2563825"/>
                </a:lnTo>
                <a:lnTo>
                  <a:pt x="5065759" y="2574301"/>
                </a:lnTo>
                <a:lnTo>
                  <a:pt x="5029007" y="2582073"/>
                </a:lnTo>
                <a:lnTo>
                  <a:pt x="4991982" y="2585115"/>
                </a:lnTo>
                <a:lnTo>
                  <a:pt x="4968485" y="2591431"/>
                </a:lnTo>
                <a:lnTo>
                  <a:pt x="4943564" y="2605628"/>
                </a:lnTo>
                <a:lnTo>
                  <a:pt x="4918287" y="2620582"/>
                </a:lnTo>
                <a:lnTo>
                  <a:pt x="4893722" y="2629167"/>
                </a:lnTo>
                <a:lnTo>
                  <a:pt x="4870937" y="2624259"/>
                </a:lnTo>
                <a:lnTo>
                  <a:pt x="4851000" y="2598733"/>
                </a:lnTo>
                <a:lnTo>
                  <a:pt x="4834980" y="2545464"/>
                </a:lnTo>
                <a:lnTo>
                  <a:pt x="4820124" y="2544226"/>
                </a:lnTo>
                <a:lnTo>
                  <a:pt x="4783736" y="2549070"/>
                </a:lnTo>
                <a:lnTo>
                  <a:pt x="4695422" y="2563487"/>
                </a:lnTo>
                <a:lnTo>
                  <a:pt x="4663712" y="2571711"/>
                </a:lnTo>
                <a:lnTo>
                  <a:pt x="4631457" y="2577906"/>
                </a:lnTo>
                <a:lnTo>
                  <a:pt x="4601383" y="2570584"/>
                </a:lnTo>
                <a:lnTo>
                  <a:pt x="4576216" y="2538257"/>
                </a:lnTo>
                <a:lnTo>
                  <a:pt x="4579669" y="2503957"/>
                </a:lnTo>
                <a:lnTo>
                  <a:pt x="4606018" y="2466617"/>
                </a:lnTo>
                <a:lnTo>
                  <a:pt x="4646541" y="2435360"/>
                </a:lnTo>
                <a:lnTo>
                  <a:pt x="4692515" y="2419309"/>
                </a:lnTo>
                <a:lnTo>
                  <a:pt x="4733900" y="2414240"/>
                </a:lnTo>
                <a:lnTo>
                  <a:pt x="4775013" y="2411199"/>
                </a:lnTo>
                <a:lnTo>
                  <a:pt x="4815581" y="2412213"/>
                </a:lnTo>
                <a:lnTo>
                  <a:pt x="4855331" y="2419309"/>
                </a:lnTo>
                <a:lnTo>
                  <a:pt x="4898035" y="2424208"/>
                </a:lnTo>
                <a:lnTo>
                  <a:pt x="4930925" y="2412550"/>
                </a:lnTo>
                <a:lnTo>
                  <a:pt x="4955094" y="2385347"/>
                </a:lnTo>
                <a:lnTo>
                  <a:pt x="4971630" y="2343614"/>
                </a:lnTo>
                <a:lnTo>
                  <a:pt x="4990120" y="2297883"/>
                </a:lnTo>
                <a:lnTo>
                  <a:pt x="5014879" y="2261613"/>
                </a:lnTo>
                <a:lnTo>
                  <a:pt x="5045634" y="2232101"/>
                </a:lnTo>
                <a:lnTo>
                  <a:pt x="5082114" y="2206645"/>
                </a:lnTo>
                <a:lnTo>
                  <a:pt x="5124573" y="2179762"/>
                </a:lnTo>
                <a:lnTo>
                  <a:pt x="5208964" y="2124809"/>
                </a:lnTo>
                <a:lnTo>
                  <a:pt x="5251280" y="2097749"/>
                </a:lnTo>
                <a:lnTo>
                  <a:pt x="5293931" y="2071637"/>
                </a:lnTo>
                <a:lnTo>
                  <a:pt x="5337108" y="2046979"/>
                </a:lnTo>
                <a:lnTo>
                  <a:pt x="5381003" y="2024279"/>
                </a:lnTo>
                <a:lnTo>
                  <a:pt x="5425807" y="2004042"/>
                </a:lnTo>
                <a:lnTo>
                  <a:pt x="5471712" y="1986771"/>
                </a:lnTo>
                <a:lnTo>
                  <a:pt x="5492019" y="1979393"/>
                </a:lnTo>
                <a:lnTo>
                  <a:pt x="5512053" y="1965594"/>
                </a:lnTo>
                <a:lnTo>
                  <a:pt x="5529361" y="1941659"/>
                </a:lnTo>
                <a:lnTo>
                  <a:pt x="5541491" y="1903868"/>
                </a:lnTo>
                <a:lnTo>
                  <a:pt x="5494421" y="1916323"/>
                </a:lnTo>
                <a:lnTo>
                  <a:pt x="5447678" y="1930142"/>
                </a:lnTo>
                <a:lnTo>
                  <a:pt x="5401229" y="1945150"/>
                </a:lnTo>
                <a:lnTo>
                  <a:pt x="5355037" y="1961172"/>
                </a:lnTo>
                <a:lnTo>
                  <a:pt x="5309067" y="1978033"/>
                </a:lnTo>
                <a:lnTo>
                  <a:pt x="5263284" y="1995557"/>
                </a:lnTo>
                <a:lnTo>
                  <a:pt x="5217652" y="2013569"/>
                </a:lnTo>
                <a:lnTo>
                  <a:pt x="5035933" y="2086993"/>
                </a:lnTo>
                <a:lnTo>
                  <a:pt x="4990528" y="2104817"/>
                </a:lnTo>
                <a:lnTo>
                  <a:pt x="4945063" y="2122078"/>
                </a:lnTo>
                <a:lnTo>
                  <a:pt x="4899502" y="2138601"/>
                </a:lnTo>
                <a:lnTo>
                  <a:pt x="4853810" y="2154210"/>
                </a:lnTo>
                <a:lnTo>
                  <a:pt x="4807951" y="2168730"/>
                </a:lnTo>
                <a:lnTo>
                  <a:pt x="4761890" y="2181986"/>
                </a:lnTo>
                <a:lnTo>
                  <a:pt x="4715592" y="2193803"/>
                </a:lnTo>
                <a:lnTo>
                  <a:pt x="4669022" y="2204005"/>
                </a:lnTo>
                <a:lnTo>
                  <a:pt x="4622143" y="2212418"/>
                </a:lnTo>
                <a:lnTo>
                  <a:pt x="4574922" y="2218865"/>
                </a:lnTo>
                <a:lnTo>
                  <a:pt x="4527321" y="2223173"/>
                </a:lnTo>
                <a:lnTo>
                  <a:pt x="4479307" y="2225165"/>
                </a:lnTo>
                <a:lnTo>
                  <a:pt x="4430844" y="2224666"/>
                </a:lnTo>
                <a:lnTo>
                  <a:pt x="4476855" y="2196282"/>
                </a:lnTo>
                <a:lnTo>
                  <a:pt x="4524798" y="2174582"/>
                </a:lnTo>
                <a:lnTo>
                  <a:pt x="4574114" y="2157422"/>
                </a:lnTo>
                <a:lnTo>
                  <a:pt x="4624244" y="2142657"/>
                </a:lnTo>
                <a:lnTo>
                  <a:pt x="4674629" y="2128145"/>
                </a:lnTo>
                <a:lnTo>
                  <a:pt x="4724708" y="2111740"/>
                </a:lnTo>
                <a:lnTo>
                  <a:pt x="4773923" y="2091301"/>
                </a:lnTo>
                <a:lnTo>
                  <a:pt x="4725729" y="2076623"/>
                </a:lnTo>
                <a:lnTo>
                  <a:pt x="4678652" y="2076825"/>
                </a:lnTo>
                <a:lnTo>
                  <a:pt x="4632412" y="2086889"/>
                </a:lnTo>
                <a:lnTo>
                  <a:pt x="4541326" y="2116532"/>
                </a:lnTo>
                <a:lnTo>
                  <a:pt x="4504018" y="2124808"/>
                </a:lnTo>
                <a:lnTo>
                  <a:pt x="4470338" y="2124779"/>
                </a:lnTo>
                <a:lnTo>
                  <a:pt x="4442520" y="2111601"/>
                </a:lnTo>
                <a:lnTo>
                  <a:pt x="4422795" y="2080429"/>
                </a:lnTo>
                <a:lnTo>
                  <a:pt x="4413398" y="2026419"/>
                </a:lnTo>
                <a:lnTo>
                  <a:pt x="4413398" y="1997584"/>
                </a:lnTo>
                <a:lnTo>
                  <a:pt x="4454830" y="1943968"/>
                </a:lnTo>
                <a:lnTo>
                  <a:pt x="4509344" y="1914682"/>
                </a:lnTo>
                <a:lnTo>
                  <a:pt x="4527788" y="1907754"/>
                </a:lnTo>
                <a:lnTo>
                  <a:pt x="4545688" y="1897110"/>
                </a:lnTo>
                <a:lnTo>
                  <a:pt x="4559226" y="1881734"/>
                </a:lnTo>
                <a:lnTo>
                  <a:pt x="4564586" y="1860613"/>
                </a:lnTo>
                <a:lnTo>
                  <a:pt x="4569527" y="1806146"/>
                </a:lnTo>
                <a:lnTo>
                  <a:pt x="4585693" y="1763694"/>
                </a:lnTo>
                <a:lnTo>
                  <a:pt x="4610743" y="1730853"/>
                </a:lnTo>
                <a:lnTo>
                  <a:pt x="4642334" y="1705221"/>
                </a:lnTo>
                <a:lnTo>
                  <a:pt x="4678125" y="1684395"/>
                </a:lnTo>
                <a:lnTo>
                  <a:pt x="4715774" y="1665972"/>
                </a:lnTo>
                <a:lnTo>
                  <a:pt x="4686290" y="1637248"/>
                </a:lnTo>
                <a:lnTo>
                  <a:pt x="4658715" y="1633531"/>
                </a:lnTo>
                <a:lnTo>
                  <a:pt x="4632775" y="1640627"/>
                </a:lnTo>
                <a:lnTo>
                  <a:pt x="4608198" y="1644345"/>
                </a:lnTo>
                <a:lnTo>
                  <a:pt x="4593252" y="1641191"/>
                </a:lnTo>
                <a:lnTo>
                  <a:pt x="4580214" y="1635334"/>
                </a:lnTo>
                <a:lnTo>
                  <a:pt x="4570993" y="1624070"/>
                </a:lnTo>
                <a:lnTo>
                  <a:pt x="4567495" y="1604695"/>
                </a:lnTo>
                <a:lnTo>
                  <a:pt x="4569175" y="1585040"/>
                </a:lnTo>
                <a:lnTo>
                  <a:pt x="4574399" y="1566398"/>
                </a:lnTo>
                <a:lnTo>
                  <a:pt x="4583440" y="1552488"/>
                </a:lnTo>
                <a:lnTo>
                  <a:pt x="4596569" y="1547025"/>
                </a:lnTo>
                <a:lnTo>
                  <a:pt x="4637325" y="1540018"/>
                </a:lnTo>
                <a:lnTo>
                  <a:pt x="4674946" y="1523281"/>
                </a:lnTo>
                <a:lnTo>
                  <a:pt x="4710390" y="1499632"/>
                </a:lnTo>
                <a:lnTo>
                  <a:pt x="4744613" y="1471889"/>
                </a:lnTo>
                <a:lnTo>
                  <a:pt x="4778574" y="1442870"/>
                </a:lnTo>
                <a:lnTo>
                  <a:pt x="4813228" y="1415394"/>
                </a:lnTo>
                <a:lnTo>
                  <a:pt x="4849534" y="1392278"/>
                </a:lnTo>
                <a:lnTo>
                  <a:pt x="4888447" y="1376343"/>
                </a:lnTo>
                <a:lnTo>
                  <a:pt x="4930927" y="1370404"/>
                </a:lnTo>
                <a:lnTo>
                  <a:pt x="4956487" y="1363012"/>
                </a:lnTo>
                <a:lnTo>
                  <a:pt x="4959031" y="1343705"/>
                </a:lnTo>
                <a:lnTo>
                  <a:pt x="4938679" y="1286567"/>
                </a:lnTo>
                <a:lnTo>
                  <a:pt x="4937588" y="1257348"/>
                </a:lnTo>
                <a:lnTo>
                  <a:pt x="4957093" y="1233435"/>
                </a:lnTo>
                <a:lnTo>
                  <a:pt x="4956502" y="1224987"/>
                </a:lnTo>
                <a:lnTo>
                  <a:pt x="4939285" y="1217214"/>
                </a:lnTo>
                <a:lnTo>
                  <a:pt x="4914980" y="1212145"/>
                </a:lnTo>
                <a:lnTo>
                  <a:pt x="4893129" y="1211808"/>
                </a:lnTo>
                <a:lnTo>
                  <a:pt x="4876047" y="1217552"/>
                </a:lnTo>
                <a:lnTo>
                  <a:pt x="4858966" y="1225324"/>
                </a:lnTo>
                <a:lnTo>
                  <a:pt x="4840794" y="1229041"/>
                </a:lnTo>
                <a:lnTo>
                  <a:pt x="4820442" y="1222621"/>
                </a:lnTo>
                <a:lnTo>
                  <a:pt x="4818489" y="1180888"/>
                </a:lnTo>
                <a:lnTo>
                  <a:pt x="4830982" y="1150982"/>
                </a:lnTo>
                <a:lnTo>
                  <a:pt x="4878591" y="1114487"/>
                </a:lnTo>
                <a:lnTo>
                  <a:pt x="4924018" y="1088016"/>
                </a:lnTo>
                <a:lnTo>
                  <a:pt x="4969863" y="1061890"/>
                </a:lnTo>
                <a:lnTo>
                  <a:pt x="5016545" y="1038187"/>
                </a:lnTo>
                <a:lnTo>
                  <a:pt x="5064483" y="1018983"/>
                </a:lnTo>
                <a:lnTo>
                  <a:pt x="5114095" y="1006353"/>
                </a:lnTo>
                <a:lnTo>
                  <a:pt x="5133584" y="1000889"/>
                </a:lnTo>
                <a:lnTo>
                  <a:pt x="5147894" y="989681"/>
                </a:lnTo>
                <a:lnTo>
                  <a:pt x="5156208" y="972391"/>
                </a:lnTo>
                <a:lnTo>
                  <a:pt x="5157707" y="948681"/>
                </a:lnTo>
                <a:lnTo>
                  <a:pt x="5149439" y="923899"/>
                </a:lnTo>
                <a:lnTo>
                  <a:pt x="5135175" y="915339"/>
                </a:lnTo>
                <a:lnTo>
                  <a:pt x="5117639" y="916240"/>
                </a:lnTo>
                <a:lnTo>
                  <a:pt x="5099559" y="919844"/>
                </a:lnTo>
                <a:lnTo>
                  <a:pt x="5088655" y="923224"/>
                </a:lnTo>
                <a:lnTo>
                  <a:pt x="5077752" y="925251"/>
                </a:lnTo>
                <a:lnTo>
                  <a:pt x="5066849" y="921872"/>
                </a:lnTo>
                <a:lnTo>
                  <a:pt x="5055947" y="909030"/>
                </a:lnTo>
                <a:lnTo>
                  <a:pt x="5105818" y="872608"/>
                </a:lnTo>
                <a:lnTo>
                  <a:pt x="5153562" y="839871"/>
                </a:lnTo>
                <a:lnTo>
                  <a:pt x="5199447" y="810448"/>
                </a:lnTo>
                <a:lnTo>
                  <a:pt x="5243745" y="783969"/>
                </a:lnTo>
                <a:lnTo>
                  <a:pt x="5286726" y="760064"/>
                </a:lnTo>
                <a:lnTo>
                  <a:pt x="5328660" y="738362"/>
                </a:lnTo>
                <a:lnTo>
                  <a:pt x="5369818" y="718493"/>
                </a:lnTo>
                <a:lnTo>
                  <a:pt x="5410470" y="700086"/>
                </a:lnTo>
                <a:lnTo>
                  <a:pt x="5450886" y="682772"/>
                </a:lnTo>
                <a:lnTo>
                  <a:pt x="5491338" y="666179"/>
                </a:lnTo>
                <a:lnTo>
                  <a:pt x="5615605" y="617028"/>
                </a:lnTo>
                <a:lnTo>
                  <a:pt x="5658900" y="599619"/>
                </a:lnTo>
                <a:lnTo>
                  <a:pt x="5703582" y="581080"/>
                </a:lnTo>
                <a:lnTo>
                  <a:pt x="5749921" y="561040"/>
                </a:lnTo>
                <a:lnTo>
                  <a:pt x="5798187" y="539130"/>
                </a:lnTo>
                <a:lnTo>
                  <a:pt x="5848652" y="514978"/>
                </a:lnTo>
                <a:lnTo>
                  <a:pt x="5901585" y="488216"/>
                </a:lnTo>
                <a:lnTo>
                  <a:pt x="5957257" y="458471"/>
                </a:lnTo>
                <a:lnTo>
                  <a:pt x="5898063" y="440167"/>
                </a:lnTo>
                <a:lnTo>
                  <a:pt x="5845684" y="439097"/>
                </a:lnTo>
                <a:lnTo>
                  <a:pt x="5798210" y="446813"/>
                </a:lnTo>
                <a:lnTo>
                  <a:pt x="5753736" y="454867"/>
                </a:lnTo>
                <a:lnTo>
                  <a:pt x="5709340" y="462251"/>
                </a:lnTo>
                <a:lnTo>
                  <a:pt x="5681504" y="470692"/>
                </a:lnTo>
                <a:lnTo>
                  <a:pt x="5664706" y="479894"/>
                </a:lnTo>
                <a:lnTo>
                  <a:pt x="5642151" y="499394"/>
                </a:lnTo>
                <a:lnTo>
                  <a:pt x="5625353" y="509102"/>
                </a:lnTo>
                <a:lnTo>
                  <a:pt x="5597516" y="518388"/>
                </a:lnTo>
                <a:lnTo>
                  <a:pt x="5553120" y="526956"/>
                </a:lnTo>
                <a:lnTo>
                  <a:pt x="5511788" y="535520"/>
                </a:lnTo>
                <a:lnTo>
                  <a:pt x="5470874" y="544431"/>
                </a:lnTo>
                <a:lnTo>
                  <a:pt x="5429402" y="547978"/>
                </a:lnTo>
                <a:lnTo>
                  <a:pt x="5386396" y="540451"/>
                </a:lnTo>
                <a:lnTo>
                  <a:pt x="5340876" y="516143"/>
                </a:lnTo>
                <a:lnTo>
                  <a:pt x="5306057" y="501552"/>
                </a:lnTo>
                <a:lnTo>
                  <a:pt x="5266073" y="502359"/>
                </a:lnTo>
                <a:lnTo>
                  <a:pt x="5223438" y="514067"/>
                </a:lnTo>
                <a:lnTo>
                  <a:pt x="5180664" y="532176"/>
                </a:lnTo>
                <a:lnTo>
                  <a:pt x="5140262" y="552188"/>
                </a:lnTo>
                <a:lnTo>
                  <a:pt x="5100739" y="569421"/>
                </a:lnTo>
                <a:lnTo>
                  <a:pt x="5059580" y="576518"/>
                </a:lnTo>
                <a:lnTo>
                  <a:pt x="5015151" y="571449"/>
                </a:lnTo>
                <a:lnTo>
                  <a:pt x="4965815" y="552188"/>
                </a:lnTo>
                <a:lnTo>
                  <a:pt x="5052676" y="522451"/>
                </a:lnTo>
                <a:lnTo>
                  <a:pt x="5091335" y="509609"/>
                </a:lnTo>
                <a:lnTo>
                  <a:pt x="5128633" y="498119"/>
                </a:lnTo>
                <a:lnTo>
                  <a:pt x="5155754" y="487081"/>
                </a:lnTo>
                <a:lnTo>
                  <a:pt x="5175516" y="469284"/>
                </a:lnTo>
                <a:lnTo>
                  <a:pt x="5187100" y="443377"/>
                </a:lnTo>
                <a:lnTo>
                  <a:pt x="5189689" y="408007"/>
                </a:lnTo>
                <a:lnTo>
                  <a:pt x="5190598" y="384916"/>
                </a:lnTo>
                <a:lnTo>
                  <a:pt x="5190416" y="361150"/>
                </a:lnTo>
                <a:lnTo>
                  <a:pt x="5184783" y="340086"/>
                </a:lnTo>
                <a:lnTo>
                  <a:pt x="5169338" y="325106"/>
                </a:lnTo>
                <a:lnTo>
                  <a:pt x="5150711" y="319417"/>
                </a:lnTo>
                <a:lnTo>
                  <a:pt x="5131540" y="322852"/>
                </a:lnTo>
                <a:lnTo>
                  <a:pt x="5114550" y="333722"/>
                </a:lnTo>
                <a:lnTo>
                  <a:pt x="5102466" y="350335"/>
                </a:lnTo>
                <a:lnTo>
                  <a:pt x="5091017" y="384241"/>
                </a:lnTo>
                <a:lnTo>
                  <a:pt x="5076299" y="413415"/>
                </a:lnTo>
                <a:lnTo>
                  <a:pt x="5055038" y="434479"/>
                </a:lnTo>
                <a:lnTo>
                  <a:pt x="5023964" y="444054"/>
                </a:lnTo>
                <a:lnTo>
                  <a:pt x="4991392" y="443152"/>
                </a:lnTo>
                <a:lnTo>
                  <a:pt x="4985804" y="431437"/>
                </a:lnTo>
                <a:lnTo>
                  <a:pt x="5006520" y="386380"/>
                </a:lnTo>
                <a:lnTo>
                  <a:pt x="5007428" y="361882"/>
                </a:lnTo>
                <a:lnTo>
                  <a:pt x="4996343" y="347182"/>
                </a:lnTo>
                <a:lnTo>
                  <a:pt x="4978717" y="341269"/>
                </a:lnTo>
                <a:lnTo>
                  <a:pt x="4960001" y="343127"/>
                </a:lnTo>
                <a:lnTo>
                  <a:pt x="4916160" y="352740"/>
                </a:lnTo>
                <a:lnTo>
                  <a:pt x="4871915" y="352740"/>
                </a:lnTo>
                <a:lnTo>
                  <a:pt x="4827348" y="348535"/>
                </a:lnTo>
                <a:lnTo>
                  <a:pt x="4782538" y="345531"/>
                </a:lnTo>
                <a:lnTo>
                  <a:pt x="4737567" y="349136"/>
                </a:lnTo>
                <a:lnTo>
                  <a:pt x="4692515" y="364755"/>
                </a:lnTo>
                <a:lnTo>
                  <a:pt x="4706460" y="312340"/>
                </a:lnTo>
                <a:lnTo>
                  <a:pt x="4725573" y="269837"/>
                </a:lnTo>
                <a:lnTo>
                  <a:pt x="4750664" y="236345"/>
                </a:lnTo>
                <a:lnTo>
                  <a:pt x="4782538" y="210963"/>
                </a:lnTo>
                <a:lnTo>
                  <a:pt x="4822004" y="192790"/>
                </a:lnTo>
                <a:lnTo>
                  <a:pt x="4869869" y="180925"/>
                </a:lnTo>
                <a:lnTo>
                  <a:pt x="4898626" y="179461"/>
                </a:lnTo>
                <a:lnTo>
                  <a:pt x="4927655" y="177321"/>
                </a:lnTo>
                <a:lnTo>
                  <a:pt x="4983260" y="152090"/>
                </a:lnTo>
                <a:lnTo>
                  <a:pt x="5009427" y="121001"/>
                </a:lnTo>
                <a:lnTo>
                  <a:pt x="5014333" y="100894"/>
                </a:lnTo>
                <a:lnTo>
                  <a:pt x="5009427" y="76395"/>
                </a:lnTo>
                <a:lnTo>
                  <a:pt x="5000432" y="61921"/>
                </a:lnTo>
                <a:lnTo>
                  <a:pt x="4987621" y="55219"/>
                </a:lnTo>
                <a:lnTo>
                  <a:pt x="4972630" y="54599"/>
                </a:lnTo>
                <a:lnTo>
                  <a:pt x="4957093" y="58373"/>
                </a:lnTo>
                <a:lnTo>
                  <a:pt x="4905875" y="78961"/>
                </a:lnTo>
                <a:lnTo>
                  <a:pt x="4853680" y="94187"/>
                </a:lnTo>
                <a:lnTo>
                  <a:pt x="4800927" y="105606"/>
                </a:lnTo>
                <a:lnTo>
                  <a:pt x="4748035" y="114776"/>
                </a:lnTo>
                <a:lnTo>
                  <a:pt x="4695422" y="123253"/>
                </a:lnTo>
                <a:lnTo>
                  <a:pt x="4684519" y="125901"/>
                </a:lnTo>
                <a:lnTo>
                  <a:pt x="4673616" y="125506"/>
                </a:lnTo>
                <a:lnTo>
                  <a:pt x="4662713" y="117678"/>
                </a:lnTo>
                <a:lnTo>
                  <a:pt x="4651809" y="98022"/>
                </a:lnTo>
                <a:lnTo>
                  <a:pt x="4689844" y="85386"/>
                </a:lnTo>
                <a:lnTo>
                  <a:pt x="4727675" y="71946"/>
                </a:lnTo>
                <a:lnTo>
                  <a:pt x="4765370" y="57915"/>
                </a:lnTo>
                <a:lnTo>
                  <a:pt x="4917945" y="0"/>
                </a:lnTo>
                <a:close/>
              </a:path>
            </a:pathLst>
          </a:custGeom>
          <a:solidFill>
            <a:srgbClr val="E8E8E8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22208" y="1327403"/>
            <a:ext cx="3823335" cy="1899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ECECE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ECECE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ECECE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ECECE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9639" y="552109"/>
            <a:ext cx="10332720" cy="9185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ECECE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587500"/>
            <a:ext cx="7080884" cy="3777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datasets/ismailismailtijjani/naira-nigerian-currency-dataset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59511" y="842817"/>
            <a:ext cx="8713089" cy="190962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>
              <a:lnSpc>
                <a:spcPct val="89800"/>
              </a:lnSpc>
              <a:spcBef>
                <a:spcPts val="635"/>
              </a:spcBef>
            </a:pPr>
            <a:r>
              <a:rPr lang="en-US" spc="-195" dirty="0">
                <a:solidFill>
                  <a:srgbClr val="000000"/>
                </a:solidFill>
                <a:latin typeface="Trebuchet MS"/>
                <a:cs typeface="Trebuchet MS"/>
              </a:rPr>
              <a:t>Performance Comparison  of Deep Learning Techniques in Naira Classification.</a:t>
            </a:r>
            <a:endParaRPr spc="-80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784" y="5562600"/>
            <a:ext cx="3896016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25" dirty="0">
                <a:latin typeface="Trebuchet MS"/>
                <a:cs typeface="Trebuchet MS"/>
              </a:rPr>
              <a:t>AKINOLA, Lanre Olusegun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25" dirty="0">
                <a:latin typeface="Trebuchet MS"/>
                <a:cs typeface="Trebuchet MS"/>
              </a:rPr>
              <a:t>12349031</a:t>
            </a:r>
            <a:endParaRPr sz="2400" dirty="0">
              <a:latin typeface="Trebuchet MS"/>
              <a:cs typeface="Trebuchet M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8D65BF-73AF-9D2F-8AC1-4A9A807703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287982"/>
            <a:ext cx="1569042" cy="11096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60F481-264F-B2F9-263C-6A429EFA3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5228481"/>
            <a:ext cx="1569042" cy="1109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639" y="552109"/>
            <a:ext cx="5471161" cy="654025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75"/>
              </a:lnSpc>
            </a:pPr>
            <a:r>
              <a:rPr lang="en-US" dirty="0"/>
              <a:t>PROBLEM STATEMENT</a:t>
            </a:r>
            <a:endParaRPr lang="en-US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6941" y="1808988"/>
            <a:ext cx="4602480" cy="70326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just">
              <a:lnSpc>
                <a:spcPct val="89500"/>
              </a:lnSpc>
              <a:spcBef>
                <a:spcPts val="950"/>
              </a:spcBef>
              <a:tabLst>
                <a:tab pos="241300" algn="l"/>
                <a:tab pos="295910" algn="l"/>
              </a:tabLst>
            </a:pPr>
            <a:r>
              <a:rPr lang="en-US" sz="2400" dirty="0">
                <a:latin typeface="Calibri"/>
                <a:cs typeface="Calibri"/>
              </a:rPr>
              <a:t>There has been issue of the following in Nigeria: 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728980" cy="6858000"/>
            <a:chOff x="0" y="0"/>
            <a:chExt cx="728980" cy="68580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728980" cy="6858000"/>
            </a:xfrm>
            <a:custGeom>
              <a:avLst/>
              <a:gdLst/>
              <a:ahLst/>
              <a:cxnLst/>
              <a:rect l="l" t="t" r="r" b="b"/>
              <a:pathLst>
                <a:path w="728980" h="6858000">
                  <a:moveTo>
                    <a:pt x="72887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28871" y="6857999"/>
                  </a:lnTo>
                  <a:lnTo>
                    <a:pt x="728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21" y="6077994"/>
              <a:ext cx="664426" cy="664426"/>
            </a:xfrm>
            <a:prstGeom prst="rect">
              <a:avLst/>
            </a:prstGeom>
          </p:spPr>
        </p:pic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30E5D2E7-6B90-6DDD-768D-518D83E8725E}"/>
              </a:ext>
            </a:extLst>
          </p:cNvPr>
          <p:cNvSpPr txBox="1"/>
          <p:nvPr/>
        </p:nvSpPr>
        <p:spPr>
          <a:xfrm>
            <a:off x="991212" y="2457708"/>
            <a:ext cx="6704987" cy="2025683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39395" marR="5080" indent="-226695" algn="just">
              <a:lnSpc>
                <a:spcPct val="91500"/>
              </a:lnSpc>
              <a:spcBef>
                <a:spcPts val="300"/>
              </a:spcBef>
              <a:buFont typeface="Arial MT"/>
              <a:buChar char="•"/>
              <a:tabLst>
                <a:tab pos="241300" algn="l"/>
              </a:tabLst>
            </a:pPr>
            <a:endParaRPr sz="20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89500"/>
              </a:lnSpc>
              <a:spcBef>
                <a:spcPts val="950"/>
              </a:spcBef>
              <a:buFont typeface="Arial MT"/>
              <a:buChar char="•"/>
              <a:tabLst>
                <a:tab pos="241300" algn="l"/>
                <a:tab pos="295910" algn="l"/>
              </a:tabLst>
            </a:pPr>
            <a:r>
              <a:rPr sz="2200" dirty="0">
                <a:latin typeface="Calibri"/>
                <a:cs typeface="Calibri"/>
              </a:rPr>
              <a:t>	</a:t>
            </a:r>
            <a:r>
              <a:rPr lang="en-US" sz="2200" dirty="0">
                <a:latin typeface="Calibri"/>
                <a:cs typeface="Calibri"/>
              </a:rPr>
              <a:t>automated cash handling system</a:t>
            </a:r>
          </a:p>
          <a:p>
            <a:pPr marL="241300" marR="5080" indent="-228600" algn="just">
              <a:lnSpc>
                <a:spcPct val="89500"/>
              </a:lnSpc>
              <a:spcBef>
                <a:spcPts val="950"/>
              </a:spcBef>
              <a:buFont typeface="Arial MT"/>
              <a:buChar char="•"/>
              <a:tabLst>
                <a:tab pos="241300" algn="l"/>
                <a:tab pos="295910" algn="l"/>
              </a:tabLst>
            </a:pPr>
            <a:r>
              <a:rPr lang="en-US" sz="2200" dirty="0">
                <a:latin typeface="Calibri"/>
                <a:cs typeface="Calibri"/>
              </a:rPr>
              <a:t>naira sorting systems </a:t>
            </a:r>
          </a:p>
          <a:p>
            <a:pPr marL="241300" marR="5080" indent="-228600" algn="just">
              <a:lnSpc>
                <a:spcPct val="89500"/>
              </a:lnSpc>
              <a:spcBef>
                <a:spcPts val="950"/>
              </a:spcBef>
              <a:buFont typeface="Arial MT"/>
              <a:buChar char="•"/>
              <a:tabLst>
                <a:tab pos="241300" algn="l"/>
                <a:tab pos="295910" algn="l"/>
              </a:tabLst>
            </a:pPr>
            <a:r>
              <a:rPr lang="en-US" sz="2200" dirty="0">
                <a:latin typeface="Calibri"/>
                <a:cs typeface="Calibri"/>
              </a:rPr>
              <a:t>assisted technology for visually impaired </a:t>
            </a:r>
          </a:p>
          <a:p>
            <a:pPr marL="12700" marR="5080" algn="just">
              <a:lnSpc>
                <a:spcPct val="89500"/>
              </a:lnSpc>
              <a:spcBef>
                <a:spcPts val="950"/>
              </a:spcBef>
              <a:tabLst>
                <a:tab pos="241300" algn="l"/>
                <a:tab pos="295910" algn="l"/>
              </a:tabLst>
            </a:pP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639" y="649954"/>
            <a:ext cx="5699761" cy="654025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75"/>
              </a:lnSpc>
            </a:pPr>
            <a:r>
              <a:rPr lang="en-US" dirty="0"/>
              <a:t>PROPOSED SOLUTION</a:t>
            </a:r>
            <a:endParaRPr lang="en-US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93544" y="1496419"/>
            <a:ext cx="9622056" cy="1213153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400" b="1" dirty="0">
                <a:latin typeface="Calibri"/>
                <a:cs typeface="Calibri"/>
              </a:rPr>
              <a:t>Build a basic CNN model and three different pre-trained models to train images of different categories of naira notes for image classification and compare the results for performance.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728980" cy="6858000"/>
            <a:chOff x="0" y="0"/>
            <a:chExt cx="728980" cy="68580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728980" cy="6858000"/>
            </a:xfrm>
            <a:custGeom>
              <a:avLst/>
              <a:gdLst/>
              <a:ahLst/>
              <a:cxnLst/>
              <a:rect l="l" t="t" r="r" b="b"/>
              <a:pathLst>
                <a:path w="728980" h="6858000">
                  <a:moveTo>
                    <a:pt x="72887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28871" y="6857999"/>
                  </a:lnTo>
                  <a:lnTo>
                    <a:pt x="728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21" y="6077994"/>
              <a:ext cx="664426" cy="664426"/>
            </a:xfrm>
            <a:prstGeom prst="rect">
              <a:avLst/>
            </a:prstGeom>
          </p:spPr>
        </p:pic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DB2CD358-D307-74FD-ACE7-0421F72B8E62}"/>
              </a:ext>
            </a:extLst>
          </p:cNvPr>
          <p:cNvSpPr txBox="1"/>
          <p:nvPr/>
        </p:nvSpPr>
        <p:spPr>
          <a:xfrm>
            <a:off x="957713" y="3509792"/>
            <a:ext cx="2868329" cy="1851789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400" b="1" dirty="0">
                <a:latin typeface="Calibri"/>
                <a:cs typeface="Calibri"/>
              </a:rPr>
              <a:t>Basic CNN model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400" b="1" dirty="0">
                <a:latin typeface="Calibri"/>
                <a:cs typeface="Calibri"/>
              </a:rPr>
              <a:t>VGG19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400" b="1" dirty="0">
                <a:latin typeface="Calibri"/>
                <a:cs typeface="Calibri"/>
              </a:rPr>
              <a:t>ResNet50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400" b="1" dirty="0">
                <a:latin typeface="Calibri"/>
                <a:cs typeface="Calibri"/>
              </a:rPr>
              <a:t>InceptionV3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22507A0D-13A7-924A-1678-9014234E1C1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0" y="2902012"/>
            <a:ext cx="7993287" cy="38165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40" y="609600"/>
            <a:ext cx="5699761" cy="1308050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90"/>
              </a:lnSpc>
            </a:pPr>
            <a:r>
              <a:rPr lang="en-US" dirty="0"/>
              <a:t>DATASET/SURVEY ANALYSIS</a:t>
            </a:r>
            <a:endParaRPr lang="en-US" spc="-10" dirty="0"/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728980" cy="6858000"/>
            <a:chOff x="0" y="0"/>
            <a:chExt cx="728980" cy="68580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728980" cy="6858000"/>
            </a:xfrm>
            <a:custGeom>
              <a:avLst/>
              <a:gdLst/>
              <a:ahLst/>
              <a:cxnLst/>
              <a:rect l="l" t="t" r="r" b="b"/>
              <a:pathLst>
                <a:path w="728980" h="6858000">
                  <a:moveTo>
                    <a:pt x="72887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28871" y="6857999"/>
                  </a:lnTo>
                  <a:lnTo>
                    <a:pt x="728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21" y="6077994"/>
              <a:ext cx="664426" cy="664426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BFF2B8CA-2C2F-B9EB-2A88-A45F707E6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113" y="3817574"/>
            <a:ext cx="4724400" cy="29489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0CCFE1-66A9-D696-C102-E4ECD1DDE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784891"/>
            <a:ext cx="5106113" cy="2948909"/>
          </a:xfrm>
          <a:prstGeom prst="rect">
            <a:avLst/>
          </a:prstGeom>
        </p:spPr>
      </p:pic>
      <p:sp>
        <p:nvSpPr>
          <p:cNvPr id="16" name="object 2">
            <a:extLst>
              <a:ext uri="{FF2B5EF4-FFF2-40B4-BE49-F238E27FC236}">
                <a16:creationId xmlns:a16="http://schemas.microsoft.com/office/drawing/2014/main" id="{506DA9DC-720B-5891-EE3F-55D8C9B43BD9}"/>
              </a:ext>
            </a:extLst>
          </p:cNvPr>
          <p:cNvSpPr txBox="1"/>
          <p:nvPr/>
        </p:nvSpPr>
        <p:spPr>
          <a:xfrm>
            <a:off x="916940" y="1794764"/>
            <a:ext cx="5511802" cy="266855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endParaRPr lang="en-US" sz="2400" spc="-30" dirty="0">
              <a:latin typeface="Trebuchet MS"/>
              <a:cs typeface="Trebuchet MS"/>
            </a:endParaRPr>
          </a:p>
          <a:p>
            <a:pPr marL="240029" marR="5080" indent="-227329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400" spc="-30" dirty="0">
                <a:latin typeface="Trebuchet MS"/>
                <a:cs typeface="Trebuchet MS"/>
              </a:rPr>
              <a:t>Dataset from Kaggle </a:t>
            </a:r>
          </a:p>
          <a:p>
            <a:pPr marL="12700" marR="5080" algn="just">
              <a:lnSpc>
                <a:spcPts val="2590"/>
              </a:lnSpc>
              <a:spcBef>
                <a:spcPts val="425"/>
              </a:spcBef>
              <a:tabLst>
                <a:tab pos="241300" algn="l"/>
              </a:tabLst>
            </a:pPr>
            <a:r>
              <a:rPr lang="en-US" sz="2000" dirty="0">
                <a:latin typeface="Trebuchet MS"/>
                <a:cs typeface="Trebuchet MS"/>
              </a:rPr>
              <a:t>(</a:t>
            </a:r>
            <a:r>
              <a:rPr lang="en-US" sz="2000" dirty="0">
                <a:latin typeface="Trebuchet MS"/>
                <a:cs typeface="Trebuchet MS"/>
                <a:hlinkClick r:id="rId5"/>
              </a:rPr>
              <a:t>https://www.kaggle.com/datasets/ismailismailtijjani/naira-nigerian-currency-dataset</a:t>
            </a:r>
            <a:r>
              <a:rPr lang="en-US" sz="2000" dirty="0">
                <a:latin typeface="Trebuchet MS"/>
                <a:cs typeface="Trebuchet MS"/>
              </a:rPr>
              <a:t>)</a:t>
            </a:r>
          </a:p>
          <a:p>
            <a:pPr marL="12700" marR="5080" algn="just">
              <a:lnSpc>
                <a:spcPts val="2590"/>
              </a:lnSpc>
              <a:spcBef>
                <a:spcPts val="425"/>
              </a:spcBef>
              <a:tabLst>
                <a:tab pos="241300" algn="l"/>
              </a:tabLst>
            </a:pPr>
            <a:endParaRPr sz="2400" dirty="0">
              <a:latin typeface="Trebuchet MS"/>
              <a:cs typeface="Trebuchet MS"/>
            </a:endParaRPr>
          </a:p>
          <a:p>
            <a:pPr marL="240029" marR="5080" indent="-227329" algn="just">
              <a:lnSpc>
                <a:spcPct val="904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400" dirty="0">
                <a:solidFill>
                  <a:srgbClr val="242424"/>
                </a:solidFill>
                <a:latin typeface="Calibri"/>
                <a:cs typeface="Calibri"/>
              </a:rPr>
              <a:t>Denominations include #5, #10, #20, #50, #100, #200, #500 and #1000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9639" y="648843"/>
            <a:ext cx="5623561" cy="654025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85"/>
              </a:lnSpc>
            </a:pPr>
            <a:r>
              <a:rPr lang="en-US" dirty="0"/>
              <a:t>IMPLEMENTATION PLAN</a:t>
            </a:r>
            <a:endParaRPr lang="en-US"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728980" cy="6858000"/>
            <a:chOff x="0" y="0"/>
            <a:chExt cx="728980" cy="68580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728980" cy="6858000"/>
            </a:xfrm>
            <a:custGeom>
              <a:avLst/>
              <a:gdLst/>
              <a:ahLst/>
              <a:cxnLst/>
              <a:rect l="l" t="t" r="r" b="b"/>
              <a:pathLst>
                <a:path w="728980" h="6858000">
                  <a:moveTo>
                    <a:pt x="72887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28871" y="6857999"/>
                  </a:lnTo>
                  <a:lnTo>
                    <a:pt x="728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21" y="6077994"/>
              <a:ext cx="664426" cy="664426"/>
            </a:xfrm>
            <a:prstGeom prst="rect">
              <a:avLst/>
            </a:prstGeom>
          </p:spPr>
        </p:pic>
      </p:grpSp>
      <p:sp>
        <p:nvSpPr>
          <p:cNvPr id="13" name="object 4">
            <a:extLst>
              <a:ext uri="{FF2B5EF4-FFF2-40B4-BE49-F238E27FC236}">
                <a16:creationId xmlns:a16="http://schemas.microsoft.com/office/drawing/2014/main" id="{B07B47AC-49A6-2FB0-0D60-B3432C725D7F}"/>
              </a:ext>
            </a:extLst>
          </p:cNvPr>
          <p:cNvSpPr txBox="1"/>
          <p:nvPr/>
        </p:nvSpPr>
        <p:spPr>
          <a:xfrm>
            <a:off x="1371600" y="1921510"/>
            <a:ext cx="3696335" cy="301498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Winner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ILSVRC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2015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challenge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40"/>
              </a:spcBef>
              <a:buSzPct val="78125"/>
              <a:buFont typeface="Wingdings"/>
              <a:buChar char="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3.57%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top-</a:t>
            </a:r>
            <a:r>
              <a:rPr sz="1600" dirty="0">
                <a:latin typeface="Calibri"/>
                <a:cs typeface="Calibri"/>
              </a:rPr>
              <a:t>5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rate</a:t>
            </a:r>
            <a:endParaRPr sz="16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Residual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G(x)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F(x)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x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95"/>
              </a:spcBef>
              <a:buSzPct val="80555"/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Learning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concept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input</a:t>
            </a:r>
            <a:endParaRPr sz="1800" dirty="0">
              <a:latin typeface="Calibri"/>
              <a:cs typeface="Calibri"/>
            </a:endParaRPr>
          </a:p>
          <a:p>
            <a:pPr marL="697865" lvl="1" indent="-227965">
              <a:lnSpc>
                <a:spcPts val="2055"/>
              </a:lnSpc>
              <a:spcBef>
                <a:spcPts val="290"/>
              </a:spcBef>
              <a:buSzPct val="80555"/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Allows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deeper</a:t>
            </a:r>
            <a:endParaRPr sz="1800" dirty="0">
              <a:latin typeface="Calibri"/>
              <a:cs typeface="Calibri"/>
            </a:endParaRPr>
          </a:p>
          <a:p>
            <a:pPr marL="698500">
              <a:lnSpc>
                <a:spcPts val="2055"/>
              </a:lnSpc>
            </a:pPr>
            <a:r>
              <a:rPr sz="1800" spc="-10" dirty="0">
                <a:latin typeface="Calibri"/>
                <a:cs typeface="Calibri"/>
              </a:rPr>
              <a:t>models</a:t>
            </a:r>
            <a:endParaRPr sz="1800" dirty="0">
              <a:latin typeface="Calibri"/>
              <a:cs typeface="Calibri"/>
            </a:endParaRPr>
          </a:p>
          <a:p>
            <a:pPr marL="241300" marR="1236345" indent="-228600">
              <a:lnSpc>
                <a:spcPts val="216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34,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50,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101,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152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layer </a:t>
            </a:r>
            <a:r>
              <a:rPr sz="2000" dirty="0">
                <a:latin typeface="Calibri"/>
                <a:cs typeface="Calibri"/>
              </a:rPr>
              <a:t>deep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CNNs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Heavy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batch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normalization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15" name="object 5">
            <a:extLst>
              <a:ext uri="{FF2B5EF4-FFF2-40B4-BE49-F238E27FC236}">
                <a16:creationId xmlns:a16="http://schemas.microsoft.com/office/drawing/2014/main" id="{C9351E41-A6E5-1B77-A29B-B4C75080130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8284" y="316630"/>
            <a:ext cx="3896359" cy="6093577"/>
          </a:xfrm>
          <a:prstGeom prst="rect">
            <a:avLst/>
          </a:prstGeom>
        </p:spPr>
      </p:pic>
      <p:sp>
        <p:nvSpPr>
          <p:cNvPr id="17" name="object 6">
            <a:extLst>
              <a:ext uri="{FF2B5EF4-FFF2-40B4-BE49-F238E27FC236}">
                <a16:creationId xmlns:a16="http://schemas.microsoft.com/office/drawing/2014/main" id="{13F13E1D-72EB-86EA-60AF-9E9029382CDC}"/>
              </a:ext>
            </a:extLst>
          </p:cNvPr>
          <p:cNvSpPr txBox="1"/>
          <p:nvPr/>
        </p:nvSpPr>
        <p:spPr>
          <a:xfrm>
            <a:off x="1143000" y="6564620"/>
            <a:ext cx="46012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.</a:t>
            </a:r>
            <a:endParaRPr sz="1000" dirty="0">
              <a:latin typeface="Arial MT"/>
              <a:cs typeface="Arial M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66A542-D3C6-8B47-B3C7-37542C43D7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084" y="1676400"/>
            <a:ext cx="2342051" cy="2968224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E62B57DE-31C7-5244-51F5-D1F53DB52C47}"/>
              </a:ext>
            </a:extLst>
          </p:cNvPr>
          <p:cNvSpPr txBox="1"/>
          <p:nvPr/>
        </p:nvSpPr>
        <p:spPr>
          <a:xfrm>
            <a:off x="5410200" y="4637049"/>
            <a:ext cx="2880361" cy="299441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240665" algn="l"/>
              </a:tabLst>
            </a:pPr>
            <a:r>
              <a:rPr lang="en-US" sz="1500" b="1" dirty="0">
                <a:latin typeface="Calibri"/>
                <a:cs typeface="Calibri"/>
              </a:rPr>
              <a:t>ResNet-50 Architecture</a:t>
            </a: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3876233B-AFD2-89A1-DD61-AC9D5C285CAE}"/>
              </a:ext>
            </a:extLst>
          </p:cNvPr>
          <p:cNvSpPr txBox="1"/>
          <p:nvPr/>
        </p:nvSpPr>
        <p:spPr>
          <a:xfrm>
            <a:off x="856045" y="6492037"/>
            <a:ext cx="5084587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 MT"/>
                <a:cs typeface="Arial MT"/>
              </a:rPr>
              <a:t>[</a:t>
            </a:r>
            <a:r>
              <a:rPr lang="en-US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He, K., Zhang, X., Ren, S. and Sun, J., 2016. Deep residual learning for image recognition. In </a:t>
            </a:r>
            <a:r>
              <a:rPr lang="en-US" sz="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IEEE conference on computer vision and pattern recognition</a:t>
            </a:r>
            <a:r>
              <a:rPr lang="en-US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770-778).</a:t>
            </a:r>
            <a:endParaRPr sz="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3DAF-193C-133D-BB47-E4D3E2A5C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932183A-1F68-0C01-D28D-A1BB084DCB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9639" y="648843"/>
            <a:ext cx="5623561" cy="654025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85"/>
              </a:lnSpc>
            </a:pPr>
            <a:r>
              <a:rPr lang="en-US" dirty="0"/>
              <a:t>IMPLEMENTATION PLAN</a:t>
            </a:r>
            <a:endParaRPr lang="en-US" spc="-1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CB8A1CF-546C-DFE1-2683-976E01BC88F1}"/>
              </a:ext>
            </a:extLst>
          </p:cNvPr>
          <p:cNvGrpSpPr/>
          <p:nvPr/>
        </p:nvGrpSpPr>
        <p:grpSpPr>
          <a:xfrm>
            <a:off x="0" y="0"/>
            <a:ext cx="728980" cy="6858000"/>
            <a:chOff x="0" y="0"/>
            <a:chExt cx="728980" cy="68580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4F5C96D-CFAB-A976-C30D-2DAA755C69B2}"/>
                </a:ext>
              </a:extLst>
            </p:cNvPr>
            <p:cNvSpPr/>
            <p:nvPr/>
          </p:nvSpPr>
          <p:spPr>
            <a:xfrm>
              <a:off x="0" y="0"/>
              <a:ext cx="728980" cy="6858000"/>
            </a:xfrm>
            <a:custGeom>
              <a:avLst/>
              <a:gdLst/>
              <a:ahLst/>
              <a:cxnLst/>
              <a:rect l="l" t="t" r="r" b="b"/>
              <a:pathLst>
                <a:path w="728980" h="6858000">
                  <a:moveTo>
                    <a:pt x="72887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28871" y="6857999"/>
                  </a:lnTo>
                  <a:lnTo>
                    <a:pt x="728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D4444DB-6BA6-D085-A4DD-02ECD01125D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21" y="6077994"/>
              <a:ext cx="664426" cy="664426"/>
            </a:xfrm>
            <a:prstGeom prst="rect">
              <a:avLst/>
            </a:prstGeom>
          </p:spPr>
        </p:pic>
      </p:grpSp>
      <p:sp>
        <p:nvSpPr>
          <p:cNvPr id="17" name="object 6">
            <a:extLst>
              <a:ext uri="{FF2B5EF4-FFF2-40B4-BE49-F238E27FC236}">
                <a16:creationId xmlns:a16="http://schemas.microsoft.com/office/drawing/2014/main" id="{9710C15A-37FA-7CF3-3298-AC3E57ECC681}"/>
              </a:ext>
            </a:extLst>
          </p:cNvPr>
          <p:cNvSpPr txBox="1"/>
          <p:nvPr/>
        </p:nvSpPr>
        <p:spPr>
          <a:xfrm>
            <a:off x="1143000" y="6564620"/>
            <a:ext cx="46012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.</a:t>
            </a:r>
            <a:endParaRPr sz="1000" dirty="0">
              <a:latin typeface="Arial M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487DA2-2963-5360-241D-9A87819EF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324289"/>
            <a:ext cx="4873574" cy="3895307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742A8BD1-0AE4-690F-32BD-951F8876225F}"/>
              </a:ext>
            </a:extLst>
          </p:cNvPr>
          <p:cNvSpPr txBox="1"/>
          <p:nvPr/>
        </p:nvSpPr>
        <p:spPr>
          <a:xfrm>
            <a:off x="4545424" y="5219596"/>
            <a:ext cx="3696335" cy="299441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240665" algn="l"/>
              </a:tabLst>
            </a:pPr>
            <a:r>
              <a:rPr lang="en-US" sz="1500" b="1" dirty="0">
                <a:latin typeface="Calibri"/>
                <a:cs typeface="Calibri"/>
              </a:rPr>
              <a:t>Inception-V3 Architecture</a:t>
            </a:r>
            <a:endParaRPr sz="1500" b="1" dirty="0">
              <a:latin typeface="Calibri"/>
              <a:cs typeface="Calibri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A5E83E5C-0436-6F92-B31A-5DA0266C2589}"/>
              </a:ext>
            </a:extLst>
          </p:cNvPr>
          <p:cNvSpPr txBox="1"/>
          <p:nvPr/>
        </p:nvSpPr>
        <p:spPr>
          <a:xfrm>
            <a:off x="1003287" y="6244348"/>
            <a:ext cx="6994487" cy="3148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240665" algn="l"/>
              </a:tabLst>
            </a:pPr>
            <a:r>
              <a:rPr lang="en-US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Iparraguirre-Villanueva, O., Guevara-Ponce, V., Roque Paredes, O., Sierra-</a:t>
            </a:r>
            <a:r>
              <a:rPr lang="en-US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Liñan</a:t>
            </a:r>
            <a:r>
              <a:rPr lang="en-US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F., Zapata-Paulini, J. and Cabanillas-Carbonell, M., 2022. Convolutional neural networks with transfer learning for pneumonia detection.</a:t>
            </a:r>
            <a:endParaRPr sz="8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8685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639" y="648843"/>
            <a:ext cx="4968875" cy="654025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85"/>
              </a:lnSpc>
            </a:pPr>
            <a:r>
              <a:rPr lang="en-US" dirty="0"/>
              <a:t>MODEL</a:t>
            </a:r>
            <a:r>
              <a:rPr lang="en-US" spc="-100" dirty="0"/>
              <a:t> </a:t>
            </a:r>
            <a:r>
              <a:rPr lang="en-US" spc="-25" dirty="0"/>
              <a:t>DEPLOYMENT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728980" cy="6858000"/>
            <a:chOff x="0" y="0"/>
            <a:chExt cx="728980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728980" cy="6858000"/>
            </a:xfrm>
            <a:custGeom>
              <a:avLst/>
              <a:gdLst/>
              <a:ahLst/>
              <a:cxnLst/>
              <a:rect l="l" t="t" r="r" b="b"/>
              <a:pathLst>
                <a:path w="728980" h="6858000">
                  <a:moveTo>
                    <a:pt x="72887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28871" y="6857999"/>
                  </a:lnTo>
                  <a:lnTo>
                    <a:pt x="728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21" y="6077994"/>
              <a:ext cx="664426" cy="664426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ADF19FC-87D1-138A-5069-94934EF81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304" y="1302868"/>
            <a:ext cx="5943600" cy="4276607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E8B5EEE7-6FE0-ADB1-A6E8-D92DCBFFC466}"/>
              </a:ext>
            </a:extLst>
          </p:cNvPr>
          <p:cNvSpPr txBox="1"/>
          <p:nvPr/>
        </p:nvSpPr>
        <p:spPr>
          <a:xfrm>
            <a:off x="909586" y="2142750"/>
            <a:ext cx="4798059" cy="2316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0" dirty="0">
                <a:latin typeface="Trebuchet MS"/>
                <a:cs typeface="Trebuchet MS"/>
              </a:rPr>
              <a:t>The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model’s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architecture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lang="en-US" sz="2400" dirty="0">
                <a:latin typeface="Trebuchet MS"/>
                <a:cs typeface="Trebuchet MS"/>
              </a:rPr>
              <a:t>are pre-trained.</a:t>
            </a:r>
          </a:p>
          <a:p>
            <a:pPr marL="240665" indent="-227965">
              <a:lnSpc>
                <a:spcPts val="2075"/>
              </a:lnSpc>
              <a:spcBef>
                <a:spcPts val="242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1800" b="1" spc="-75" dirty="0">
                <a:latin typeface="Trebuchet MS"/>
                <a:cs typeface="Trebuchet MS"/>
              </a:rPr>
              <a:t>Task</a:t>
            </a:r>
            <a:r>
              <a:rPr lang="en-US" sz="1800" spc="-75" dirty="0">
                <a:latin typeface="Trebuchet MS"/>
                <a:cs typeface="Trebuchet MS"/>
              </a:rPr>
              <a:t>:</a:t>
            </a:r>
            <a:r>
              <a:rPr lang="en-US" sz="1800" spc="-145" dirty="0">
                <a:latin typeface="Trebuchet MS"/>
                <a:cs typeface="Trebuchet MS"/>
              </a:rPr>
              <a:t> </a:t>
            </a:r>
            <a:r>
              <a:rPr lang="en-US" sz="1800" spc="-40" dirty="0">
                <a:latin typeface="Trebuchet MS"/>
                <a:cs typeface="Trebuchet MS"/>
              </a:rPr>
              <a:t>Multi-</a:t>
            </a:r>
            <a:r>
              <a:rPr lang="en-US" sz="1800" spc="75" dirty="0">
                <a:latin typeface="Trebuchet MS"/>
                <a:cs typeface="Trebuchet MS"/>
              </a:rPr>
              <a:t>Class</a:t>
            </a:r>
            <a:r>
              <a:rPr lang="en-US" sz="1800" spc="-140" dirty="0">
                <a:latin typeface="Trebuchet MS"/>
                <a:cs typeface="Trebuchet MS"/>
              </a:rPr>
              <a:t> </a:t>
            </a:r>
            <a:r>
              <a:rPr lang="en-US" sz="1800" spc="-10" dirty="0">
                <a:latin typeface="Trebuchet MS"/>
                <a:cs typeface="Trebuchet MS"/>
              </a:rPr>
              <a:t>classification</a:t>
            </a:r>
            <a:endParaRPr lang="en-US" sz="1800" dirty="0">
              <a:latin typeface="Trebuchet MS"/>
              <a:cs typeface="Trebuchet MS"/>
            </a:endParaRPr>
          </a:p>
          <a:p>
            <a:pPr marL="240665" indent="-227965">
              <a:lnSpc>
                <a:spcPts val="1945"/>
              </a:lnSpc>
              <a:buFont typeface="Arial MT"/>
              <a:buChar char="•"/>
              <a:tabLst>
                <a:tab pos="240665" algn="l"/>
              </a:tabLst>
            </a:pPr>
            <a:r>
              <a:rPr lang="en-US" sz="1800" b="1" spc="-55" dirty="0">
                <a:latin typeface="Trebuchet MS"/>
                <a:cs typeface="Trebuchet MS"/>
              </a:rPr>
              <a:t>Input</a:t>
            </a:r>
            <a:r>
              <a:rPr lang="en-US" sz="1800" spc="-55" dirty="0">
                <a:latin typeface="Trebuchet MS"/>
                <a:cs typeface="Trebuchet MS"/>
              </a:rPr>
              <a:t>:</a:t>
            </a:r>
            <a:r>
              <a:rPr lang="en-US" sz="1800" spc="-160" dirty="0">
                <a:latin typeface="Trebuchet MS"/>
                <a:cs typeface="Trebuchet MS"/>
              </a:rPr>
              <a:t> </a:t>
            </a:r>
            <a:r>
              <a:rPr lang="en-US" spc="-160" dirty="0">
                <a:latin typeface="Trebuchet MS"/>
                <a:cs typeface="Trebuchet MS"/>
              </a:rPr>
              <a:t>images of different naira currencies </a:t>
            </a:r>
          </a:p>
          <a:p>
            <a:pPr marL="240665" indent="-227965">
              <a:lnSpc>
                <a:spcPts val="1945"/>
              </a:lnSpc>
              <a:buFont typeface="Arial MT"/>
              <a:buChar char="•"/>
              <a:tabLst>
                <a:tab pos="240665" algn="l"/>
              </a:tabLst>
            </a:pPr>
            <a:r>
              <a:rPr lang="en-US" spc="-160" dirty="0">
                <a:latin typeface="Trebuchet MS"/>
                <a:cs typeface="Trebuchet MS"/>
              </a:rPr>
              <a:t>Models: CNN, VGG19, ResNet50, inceprtionV3, </a:t>
            </a:r>
            <a:r>
              <a:rPr lang="en-US" dirty="0">
                <a:latin typeface="Trebuchet MS"/>
                <a:cs typeface="Trebuchet MS"/>
              </a:rPr>
              <a:t>Interface: </a:t>
            </a:r>
            <a:r>
              <a:rPr lang="en-US" dirty="0" err="1">
                <a:latin typeface="Trebuchet MS"/>
                <a:cs typeface="Trebuchet MS"/>
              </a:rPr>
              <a:t>Gradio</a:t>
            </a:r>
            <a:r>
              <a:rPr lang="en-US" dirty="0">
                <a:latin typeface="Trebuchet MS"/>
                <a:cs typeface="Trebuchet MS"/>
              </a:rPr>
              <a:t> for quick demo</a:t>
            </a:r>
            <a:endParaRPr sz="1800" dirty="0">
              <a:latin typeface="Trebuchet MS"/>
              <a:cs typeface="Trebuchet MS"/>
            </a:endParaRPr>
          </a:p>
          <a:p>
            <a:pPr marL="240665" indent="-227965">
              <a:lnSpc>
                <a:spcPts val="1955"/>
              </a:lnSpc>
              <a:buFont typeface="Arial MT"/>
              <a:buChar char="•"/>
              <a:tabLst>
                <a:tab pos="240665" algn="l"/>
              </a:tabLst>
            </a:pPr>
            <a:r>
              <a:rPr sz="1800" b="1" spc="-25" dirty="0">
                <a:latin typeface="Trebuchet MS"/>
                <a:cs typeface="Trebuchet MS"/>
              </a:rPr>
              <a:t>Outputs</a:t>
            </a:r>
            <a:r>
              <a:rPr sz="1800" spc="-25" dirty="0">
                <a:latin typeface="Trebuchet MS"/>
                <a:cs typeface="Trebuchet MS"/>
              </a:rPr>
              <a:t>: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lang="en-US" spc="-155" dirty="0">
                <a:latin typeface="Trebuchet MS"/>
                <a:cs typeface="Trebuchet MS"/>
              </a:rPr>
              <a:t>8</a:t>
            </a:r>
            <a:r>
              <a:rPr sz="1800" spc="2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results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(Probability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each</a:t>
            </a:r>
            <a:r>
              <a:rPr sz="1800" spc="-10" dirty="0">
                <a:latin typeface="Trebuchet MS"/>
                <a:cs typeface="Trebuchet MS"/>
              </a:rPr>
              <a:t>).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BE19D433-03AF-E4CF-7ADE-6D2E6BC1C4E9}"/>
              </a:ext>
            </a:extLst>
          </p:cNvPr>
          <p:cNvSpPr txBox="1"/>
          <p:nvPr/>
        </p:nvSpPr>
        <p:spPr>
          <a:xfrm>
            <a:off x="7813304" y="5770532"/>
            <a:ext cx="2133600" cy="299441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240665" algn="l"/>
              </a:tabLst>
            </a:pPr>
            <a:r>
              <a:rPr lang="en-US" sz="1500" b="1" dirty="0" err="1">
                <a:latin typeface="Calibri"/>
                <a:cs typeface="Calibri"/>
              </a:rPr>
              <a:t>Gradio</a:t>
            </a:r>
            <a:r>
              <a:rPr lang="en-US" sz="1500" b="1" dirty="0">
                <a:latin typeface="Calibri"/>
                <a:cs typeface="Calibri"/>
              </a:rPr>
              <a:t> web interface</a:t>
            </a:r>
            <a:endParaRPr sz="15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9639" y="648843"/>
            <a:ext cx="4722495" cy="654025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85"/>
              </a:lnSpc>
            </a:pPr>
            <a:r>
              <a:rPr lang="en-US" dirty="0"/>
              <a:t>Model</a:t>
            </a:r>
            <a:r>
              <a:rPr lang="en-US" spc="-145" dirty="0"/>
              <a:t> </a:t>
            </a:r>
            <a:r>
              <a:rPr lang="en-US" spc="-65" dirty="0"/>
              <a:t>Evaluation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728980" cy="6858000"/>
            <a:chOff x="0" y="0"/>
            <a:chExt cx="728980" cy="68580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728980" cy="6858000"/>
            </a:xfrm>
            <a:custGeom>
              <a:avLst/>
              <a:gdLst/>
              <a:ahLst/>
              <a:cxnLst/>
              <a:rect l="l" t="t" r="r" b="b"/>
              <a:pathLst>
                <a:path w="728980" h="6858000">
                  <a:moveTo>
                    <a:pt x="72887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28871" y="6857999"/>
                  </a:lnTo>
                  <a:lnTo>
                    <a:pt x="728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21" y="6077994"/>
              <a:ext cx="664426" cy="664426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3D9CE8A-4192-8F19-05AF-F1C26E42B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54" y="1574291"/>
            <a:ext cx="4722495" cy="39883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AAF9A0-C401-EBC5-E1CE-7F62DC7449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096" y="463127"/>
            <a:ext cx="5887748" cy="22223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8EC5AA-626D-DE5F-7500-929C150A91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658131"/>
            <a:ext cx="5887747" cy="3419863"/>
          </a:xfrm>
          <a:prstGeom prst="rect">
            <a:avLst/>
          </a:prstGeom>
        </p:spPr>
      </p:pic>
      <p:sp>
        <p:nvSpPr>
          <p:cNvPr id="2" name="object 6">
            <a:extLst>
              <a:ext uri="{FF2B5EF4-FFF2-40B4-BE49-F238E27FC236}">
                <a16:creationId xmlns:a16="http://schemas.microsoft.com/office/drawing/2014/main" id="{4F0B095D-8720-E381-98A8-8448D6922D48}"/>
              </a:ext>
            </a:extLst>
          </p:cNvPr>
          <p:cNvSpPr txBox="1"/>
          <p:nvPr/>
        </p:nvSpPr>
        <p:spPr>
          <a:xfrm>
            <a:off x="6386207" y="6128715"/>
            <a:ext cx="26536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110" dirty="0">
                <a:latin typeface="Trebuchet MS" panose="020B0603020202020204" pitchFamily="34" charset="0"/>
                <a:cs typeface="Trebuchet MS"/>
              </a:rPr>
              <a:t>Graph of Training and  Validation Accuracy</a:t>
            </a:r>
            <a:endParaRPr lang="en-US" sz="1200" dirty="0">
              <a:latin typeface="Trebuchet MS" panose="020B0603020202020204" pitchFamily="34" charset="0"/>
              <a:cs typeface="Trebuchet MS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3979D184-94B6-8B40-CF46-FF897A86DA05}"/>
              </a:ext>
            </a:extLst>
          </p:cNvPr>
          <p:cNvSpPr txBox="1"/>
          <p:nvPr/>
        </p:nvSpPr>
        <p:spPr>
          <a:xfrm>
            <a:off x="9448507" y="6128715"/>
            <a:ext cx="276354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110" dirty="0">
                <a:latin typeface="Trebuchet MS" panose="020B0603020202020204" pitchFamily="34" charset="0"/>
                <a:cs typeface="Trebuchet MS"/>
              </a:rPr>
              <a:t>Graph of Training and  Validation loss</a:t>
            </a:r>
            <a:endParaRPr lang="en-US" sz="1200" dirty="0">
              <a:latin typeface="Trebuchet MS" panose="020B0603020202020204" pitchFamily="34" charset="0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798AF9-30C0-6A62-68F6-B6D5BF0D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AF712D-B048-F105-C7E9-607D6806B65D}"/>
              </a:ext>
            </a:extLst>
          </p:cNvPr>
          <p:cNvSpPr txBox="1"/>
          <p:nvPr/>
        </p:nvSpPr>
        <p:spPr>
          <a:xfrm>
            <a:off x="916939" y="1574291"/>
            <a:ext cx="5483861" cy="3786934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39395" marR="5080" indent="-226695" algn="just">
              <a:lnSpc>
                <a:spcPct val="89500"/>
              </a:lnSpc>
              <a:spcBef>
                <a:spcPts val="35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20" dirty="0">
                <a:latin typeface="Trebuchet MS"/>
                <a:cs typeface="Trebuchet MS"/>
              </a:rPr>
              <a:t>  </a:t>
            </a:r>
            <a:r>
              <a:rPr sz="2000" dirty="0">
                <a:latin typeface="Trebuchet MS"/>
                <a:cs typeface="Trebuchet MS"/>
              </a:rPr>
              <a:t>classification</a:t>
            </a:r>
            <a:r>
              <a:rPr sz="2000" spc="-15" dirty="0">
                <a:latin typeface="Trebuchet MS"/>
                <a:cs typeface="Trebuchet MS"/>
              </a:rPr>
              <a:t>  </a:t>
            </a:r>
            <a:r>
              <a:rPr sz="2000" dirty="0">
                <a:latin typeface="Trebuchet MS"/>
                <a:cs typeface="Trebuchet MS"/>
              </a:rPr>
              <a:t>tasks</a:t>
            </a:r>
            <a:r>
              <a:rPr sz="2000" spc="-15" dirty="0">
                <a:latin typeface="Trebuchet MS"/>
                <a:cs typeface="Trebuchet MS"/>
              </a:rPr>
              <a:t>  </a:t>
            </a:r>
            <a:r>
              <a:rPr sz="2000" dirty="0">
                <a:latin typeface="Calibri"/>
                <a:cs typeface="Calibri"/>
              </a:rPr>
              <a:t>various</a:t>
            </a:r>
            <a:r>
              <a:rPr sz="2000" spc="135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evaluation 	</a:t>
            </a:r>
            <a:r>
              <a:rPr sz="2000" dirty="0">
                <a:latin typeface="Calibri"/>
                <a:cs typeface="Calibri"/>
              </a:rPr>
              <a:t>methods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metrics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assess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spc="-10" dirty="0">
                <a:latin typeface="Calibri"/>
                <a:cs typeface="Calibri"/>
              </a:rPr>
              <a:t>performance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</a:t>
            </a:r>
            <a:r>
              <a:rPr sz="2000" spc="-10" dirty="0"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  <a:p>
            <a:pPr marL="239395" marR="5715" indent="-226695" algn="just">
              <a:lnSpc>
                <a:spcPts val="2110"/>
              </a:lnSpc>
              <a:spcBef>
                <a:spcPts val="23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75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model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developed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was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evaluated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using 	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Confusion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Matrix.</a:t>
            </a:r>
            <a:endParaRPr sz="2000" dirty="0">
              <a:latin typeface="Trebuchet MS"/>
              <a:cs typeface="Trebuchet MS"/>
            </a:endParaRPr>
          </a:p>
          <a:p>
            <a:pPr marL="12700" algn="just">
              <a:lnSpc>
                <a:spcPts val="2305"/>
              </a:lnSpc>
              <a:spcBef>
                <a:spcPts val="1875"/>
              </a:spcBef>
            </a:pPr>
            <a:r>
              <a:rPr sz="2000" dirty="0">
                <a:latin typeface="Trebuchet MS"/>
                <a:cs typeface="Trebuchet MS"/>
              </a:rPr>
              <a:t>Confusion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Matrix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Calibri"/>
                <a:cs typeface="Calibri"/>
              </a:rPr>
              <a:t>shows: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ts val="2195"/>
              </a:lnSpc>
              <a:buFont typeface="Arial MT"/>
              <a:buChar char="•"/>
              <a:tabLst>
                <a:tab pos="240665" algn="l"/>
              </a:tabLst>
            </a:pPr>
            <a:r>
              <a:rPr sz="2000" spc="-20" dirty="0">
                <a:latin typeface="Calibri"/>
                <a:cs typeface="Calibri"/>
              </a:rPr>
              <a:t>True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positives.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ts val="2150"/>
              </a:lnSpc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False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positives.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ts val="2150"/>
              </a:lnSpc>
              <a:buFont typeface="Arial MT"/>
              <a:buChar char="•"/>
              <a:tabLst>
                <a:tab pos="240665" algn="l"/>
              </a:tabLst>
            </a:pPr>
            <a:r>
              <a:rPr sz="2000" spc="-20" dirty="0">
                <a:latin typeface="Calibri"/>
                <a:cs typeface="Calibri"/>
              </a:rPr>
              <a:t>True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negatives.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ts val="2290"/>
              </a:lnSpc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False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negatives.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E1E5017-E99D-3C3B-5778-7B11358D06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9639" y="648843"/>
            <a:ext cx="4722495" cy="654025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85"/>
              </a:lnSpc>
            </a:pPr>
            <a:r>
              <a:rPr lang="en-US" dirty="0"/>
              <a:t>Model</a:t>
            </a:r>
            <a:r>
              <a:rPr lang="en-US" spc="-145" dirty="0"/>
              <a:t> </a:t>
            </a:r>
            <a:r>
              <a:rPr lang="en-US" spc="-65" dirty="0"/>
              <a:t>Evaluation</a:t>
            </a:r>
            <a:endParaRPr spc="-65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2FC3833-0A52-FCAF-DA62-095379AA167F}"/>
              </a:ext>
            </a:extLst>
          </p:cNvPr>
          <p:cNvGrpSpPr/>
          <p:nvPr/>
        </p:nvGrpSpPr>
        <p:grpSpPr>
          <a:xfrm>
            <a:off x="0" y="0"/>
            <a:ext cx="728980" cy="6858000"/>
            <a:chOff x="0" y="0"/>
            <a:chExt cx="728980" cy="68580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F872B82-F409-984C-6163-D71CFAA80F2A}"/>
                </a:ext>
              </a:extLst>
            </p:cNvPr>
            <p:cNvSpPr/>
            <p:nvPr/>
          </p:nvSpPr>
          <p:spPr>
            <a:xfrm>
              <a:off x="0" y="0"/>
              <a:ext cx="728980" cy="6858000"/>
            </a:xfrm>
            <a:custGeom>
              <a:avLst/>
              <a:gdLst/>
              <a:ahLst/>
              <a:cxnLst/>
              <a:rect l="l" t="t" r="r" b="b"/>
              <a:pathLst>
                <a:path w="728980" h="6858000">
                  <a:moveTo>
                    <a:pt x="72887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28871" y="6857999"/>
                  </a:lnTo>
                  <a:lnTo>
                    <a:pt x="728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678805B-8F53-9717-29E6-5077A47F340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21" y="6077994"/>
              <a:ext cx="664426" cy="6644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2398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D92AFC-DD46-2C07-3D04-B04B06A0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A83B63F-113E-1BF2-E8F4-41C2EA569F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4722495" cy="654025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85"/>
              </a:lnSpc>
            </a:pPr>
            <a:r>
              <a:rPr lang="en-US" dirty="0"/>
              <a:t>Model</a:t>
            </a:r>
            <a:r>
              <a:rPr lang="en-US" spc="-145" dirty="0"/>
              <a:t> </a:t>
            </a:r>
            <a:r>
              <a:rPr lang="en-US" spc="-65" dirty="0"/>
              <a:t>Evaluation</a:t>
            </a:r>
            <a:endParaRPr spc="-65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E3BB66C-CE47-8F70-99E5-1E4177DC7513}"/>
              </a:ext>
            </a:extLst>
          </p:cNvPr>
          <p:cNvGrpSpPr/>
          <p:nvPr/>
        </p:nvGrpSpPr>
        <p:grpSpPr>
          <a:xfrm>
            <a:off x="0" y="0"/>
            <a:ext cx="728980" cy="6858000"/>
            <a:chOff x="0" y="0"/>
            <a:chExt cx="728980" cy="68580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E9D446-8627-181E-4AF4-4C94808F6A44}"/>
                </a:ext>
              </a:extLst>
            </p:cNvPr>
            <p:cNvSpPr/>
            <p:nvPr/>
          </p:nvSpPr>
          <p:spPr>
            <a:xfrm>
              <a:off x="0" y="0"/>
              <a:ext cx="728980" cy="6858000"/>
            </a:xfrm>
            <a:custGeom>
              <a:avLst/>
              <a:gdLst/>
              <a:ahLst/>
              <a:cxnLst/>
              <a:rect l="l" t="t" r="r" b="b"/>
              <a:pathLst>
                <a:path w="728980" h="6858000">
                  <a:moveTo>
                    <a:pt x="72887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28871" y="6857999"/>
                  </a:lnTo>
                  <a:lnTo>
                    <a:pt x="728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B8D2084-E7F5-F3EB-CCBA-3A4D425B542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21" y="6077994"/>
              <a:ext cx="664426" cy="664426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6F27E57-7DCE-1C39-26FF-F6D5499E71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52" y="1124521"/>
            <a:ext cx="4709169" cy="23044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81A766-43D9-FC79-1567-7A0B83AE17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18" y="3563394"/>
            <a:ext cx="4791466" cy="31230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94E804-4D6D-C089-3769-D5C5D9427F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81" y="0"/>
            <a:ext cx="4791466" cy="3763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D016E1-45D3-C142-CAA3-BA901FCD6F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748" y="3733800"/>
            <a:ext cx="4791466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32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8" y="1574290"/>
            <a:ext cx="9674862" cy="25904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latin typeface="Trebuchet MS"/>
                <a:cs typeface="Trebuchet MS"/>
              </a:rPr>
              <a:t>Different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approaches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to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improve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performance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of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this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project.</a:t>
            </a:r>
            <a:endParaRPr sz="2000" dirty="0">
              <a:latin typeface="Trebuchet MS"/>
              <a:cs typeface="Trebuchet MS"/>
            </a:endParaRPr>
          </a:p>
          <a:p>
            <a:pPr marL="240665" indent="-227965">
              <a:lnSpc>
                <a:spcPts val="2305"/>
              </a:lnSpc>
              <a:spcBef>
                <a:spcPts val="189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20" dirty="0">
                <a:latin typeface="Trebuchet MS"/>
                <a:cs typeface="Trebuchet MS"/>
              </a:rPr>
              <a:t>Train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model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with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more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lang="en-US" sz="2000" spc="-165" dirty="0">
                <a:latin typeface="Trebuchet MS"/>
                <a:cs typeface="Trebuchet MS"/>
              </a:rPr>
              <a:t>training data</a:t>
            </a:r>
            <a:r>
              <a:rPr sz="2000" spc="-10" dirty="0"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  <a:p>
            <a:pPr marL="240665" indent="-227965">
              <a:lnSpc>
                <a:spcPts val="2195"/>
              </a:lnSpc>
              <a:buFont typeface="Arial MT"/>
              <a:buChar char="•"/>
              <a:tabLst>
                <a:tab pos="240665" algn="l"/>
              </a:tabLst>
            </a:pPr>
            <a:r>
              <a:rPr lang="en-US" sz="2000" spc="-10" dirty="0">
                <a:latin typeface="Trebuchet MS"/>
                <a:cs typeface="Trebuchet MS"/>
              </a:rPr>
              <a:t>Train with more epochs</a:t>
            </a:r>
            <a:r>
              <a:rPr sz="2000" spc="-10" dirty="0">
                <a:latin typeface="Trebuchet MS"/>
                <a:cs typeface="Trebuchet MS"/>
              </a:rPr>
              <a:t>.</a:t>
            </a:r>
            <a:endParaRPr lang="en-US" sz="2000" spc="-10" dirty="0">
              <a:latin typeface="Trebuchet MS"/>
              <a:cs typeface="Trebuchet MS"/>
            </a:endParaRPr>
          </a:p>
          <a:p>
            <a:pPr marL="240665" indent="-227965">
              <a:lnSpc>
                <a:spcPts val="2195"/>
              </a:lnSpc>
              <a:buFont typeface="Arial MT"/>
              <a:buChar char="•"/>
              <a:tabLst>
                <a:tab pos="240665" algn="l"/>
              </a:tabLst>
            </a:pPr>
            <a:r>
              <a:rPr lang="en-US" sz="2000" spc="-10" dirty="0">
                <a:latin typeface="Trebuchet MS"/>
                <a:cs typeface="Trebuchet MS"/>
              </a:rPr>
              <a:t>Change different hyperparameters like the optimizers, loss activation function.</a:t>
            </a:r>
            <a:endParaRPr sz="2000" dirty="0">
              <a:latin typeface="Trebuchet MS"/>
              <a:cs typeface="Trebuchet MS"/>
            </a:endParaRPr>
          </a:p>
          <a:p>
            <a:pPr marL="240665" indent="-227965">
              <a:lnSpc>
                <a:spcPts val="2150"/>
              </a:lnSpc>
              <a:buFont typeface="Arial MT"/>
              <a:buChar char="•"/>
              <a:tabLst>
                <a:tab pos="240665" algn="l"/>
              </a:tabLst>
            </a:pPr>
            <a:r>
              <a:rPr sz="2000" spc="50" dirty="0">
                <a:latin typeface="Trebuchet MS"/>
                <a:cs typeface="Trebuchet MS"/>
              </a:rPr>
              <a:t>Use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different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lang="en-US" sz="2000" spc="-120" dirty="0">
                <a:latin typeface="Trebuchet MS"/>
                <a:cs typeface="Trebuchet MS"/>
              </a:rPr>
              <a:t>CNN </a:t>
            </a:r>
            <a:r>
              <a:rPr sz="2000" spc="-25" dirty="0">
                <a:latin typeface="Trebuchet MS"/>
                <a:cs typeface="Trebuchet MS"/>
              </a:rPr>
              <a:t>classification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models.</a:t>
            </a:r>
            <a:endParaRPr sz="2000" dirty="0">
              <a:latin typeface="Trebuchet MS"/>
              <a:cs typeface="Trebuchet MS"/>
            </a:endParaRPr>
          </a:p>
          <a:p>
            <a:pPr marL="240665" indent="-227965">
              <a:lnSpc>
                <a:spcPts val="2255"/>
              </a:lnSpc>
              <a:buFont typeface="Arial MT"/>
              <a:buChar char="•"/>
              <a:tabLst>
                <a:tab pos="240665" algn="l"/>
              </a:tabLst>
            </a:pPr>
            <a:r>
              <a:rPr lang="en-US" sz="2000" spc="-10" dirty="0">
                <a:latin typeface="Trebuchet MS"/>
                <a:cs typeface="Trebuchet MS"/>
              </a:rPr>
              <a:t>Add more layers to the fully connected layers </a:t>
            </a:r>
          </a:p>
          <a:p>
            <a:pPr marL="240665" indent="-227965">
              <a:lnSpc>
                <a:spcPts val="2255"/>
              </a:lnSpc>
              <a:buFont typeface="Arial MT"/>
              <a:buChar char="•"/>
              <a:tabLst>
                <a:tab pos="240665" algn="l"/>
              </a:tabLst>
            </a:pPr>
            <a:r>
              <a:rPr lang="en-US" sz="2000" spc="-10" dirty="0">
                <a:latin typeface="Trebuchet MS"/>
                <a:cs typeface="Trebuchet MS"/>
              </a:rPr>
              <a:t>Train the models also with fake naira notes to detect fake naira</a:t>
            </a:r>
          </a:p>
          <a:p>
            <a:pPr marL="240665" indent="-227965">
              <a:lnSpc>
                <a:spcPts val="2255"/>
              </a:lnSpc>
              <a:buFont typeface="Arial MT"/>
              <a:buChar char="•"/>
              <a:tabLst>
                <a:tab pos="240665" algn="l"/>
              </a:tabLst>
            </a:pPr>
            <a:endParaRPr sz="20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9639" y="648843"/>
            <a:ext cx="5931535" cy="685800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85"/>
              </a:lnSpc>
            </a:pPr>
            <a:r>
              <a:rPr dirty="0"/>
              <a:t>A</a:t>
            </a:r>
            <a:r>
              <a:rPr spc="-90" dirty="0"/>
              <a:t> </a:t>
            </a:r>
            <a:r>
              <a:rPr dirty="0"/>
              <a:t>LOOK</a:t>
            </a:r>
            <a:r>
              <a:rPr spc="-90" dirty="0"/>
              <a:t> </a:t>
            </a:r>
            <a:r>
              <a:rPr dirty="0"/>
              <a:t>INTO</a:t>
            </a:r>
            <a:r>
              <a:rPr spc="-9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spc="-10" dirty="0"/>
              <a:t>FUTURE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728980" cy="6858000"/>
            <a:chOff x="0" y="0"/>
            <a:chExt cx="728980" cy="68580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728980" cy="6858000"/>
            </a:xfrm>
            <a:custGeom>
              <a:avLst/>
              <a:gdLst/>
              <a:ahLst/>
              <a:cxnLst/>
              <a:rect l="l" t="t" r="r" b="b"/>
              <a:pathLst>
                <a:path w="728980" h="6858000">
                  <a:moveTo>
                    <a:pt x="72887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28871" y="6857999"/>
                  </a:lnTo>
                  <a:lnTo>
                    <a:pt x="728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21" y="6077994"/>
              <a:ext cx="664426" cy="6644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8239" y="4019656"/>
            <a:ext cx="855980" cy="0"/>
          </a:xfrm>
          <a:custGeom>
            <a:avLst/>
            <a:gdLst/>
            <a:ahLst/>
            <a:cxnLst/>
            <a:rect l="l" t="t" r="r" b="b"/>
            <a:pathLst>
              <a:path w="855980">
                <a:moveTo>
                  <a:pt x="0" y="0"/>
                </a:moveTo>
                <a:lnTo>
                  <a:pt x="855718" y="0"/>
                </a:lnTo>
              </a:path>
            </a:pathLst>
          </a:custGeom>
          <a:ln w="16519">
            <a:solidFill>
              <a:srgbClr val="457785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58239" y="4088268"/>
            <a:ext cx="850900" cy="12700"/>
          </a:xfrm>
          <a:custGeom>
            <a:avLst/>
            <a:gdLst/>
            <a:ahLst/>
            <a:cxnLst/>
            <a:rect l="l" t="t" r="r" b="b"/>
            <a:pathLst>
              <a:path w="850900" h="12700">
                <a:moveTo>
                  <a:pt x="850899" y="0"/>
                </a:moveTo>
                <a:lnTo>
                  <a:pt x="0" y="0"/>
                </a:lnTo>
                <a:lnTo>
                  <a:pt x="0" y="12700"/>
                </a:lnTo>
                <a:lnTo>
                  <a:pt x="850899" y="12700"/>
                </a:lnTo>
                <a:lnTo>
                  <a:pt x="850899" y="0"/>
                </a:lnTo>
                <a:close/>
              </a:path>
            </a:pathLst>
          </a:custGeom>
          <a:solidFill>
            <a:srgbClr val="4678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916938" y="1587500"/>
            <a:ext cx="9141461" cy="2661626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41300" marR="170180" indent="-228600">
              <a:lnSpc>
                <a:spcPct val="89300"/>
              </a:lnSpc>
              <a:spcBef>
                <a:spcPts val="33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u="sng" spc="-1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Tijjani, Ismail &amp; Mustapha, Ahmad &amp; Idris, Isma'Il. (2024). Performance Comparison of Deep Learning Techniques in Naira Classification. 10.48550/arXiv.2412.02072. </a:t>
            </a:r>
          </a:p>
          <a:p>
            <a:pPr marL="241300" marR="170180" indent="-228600">
              <a:lnSpc>
                <a:spcPct val="89300"/>
              </a:lnSpc>
              <a:spcBef>
                <a:spcPts val="330"/>
              </a:spcBef>
              <a:buFont typeface="Arial MT"/>
              <a:buChar char="•"/>
              <a:tabLst>
                <a:tab pos="241300" algn="l"/>
              </a:tabLst>
            </a:pPr>
            <a:endParaRPr lang="en-US" u="sng" spc="-10" dirty="0">
              <a:solidFill>
                <a:srgbClr val="467886"/>
              </a:solidFill>
              <a:uFill>
                <a:solidFill>
                  <a:srgbClr val="467886"/>
                </a:solidFill>
              </a:uFill>
            </a:endParaRPr>
          </a:p>
          <a:p>
            <a:pPr marL="241300" marR="170180" indent="-228600">
              <a:lnSpc>
                <a:spcPct val="89300"/>
              </a:lnSpc>
              <a:spcBef>
                <a:spcPts val="33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u="sng" spc="-1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Jyothi, Ch &amp; </a:t>
            </a:r>
            <a:r>
              <a:rPr lang="en-US" u="sng" spc="-10" dirty="0" err="1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SundaraKrishna</a:t>
            </a:r>
            <a:r>
              <a:rPr lang="en-US" u="sng" spc="-1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, Y. &amp; SrinivasaRao, V.. (2016). Paper currency recognition for color images based on Artificial Neural Network. 3402-3406. 10.1109/ICEEOT.2016.7755335.</a:t>
            </a:r>
          </a:p>
          <a:p>
            <a:pPr marL="241300" marR="170180" indent="-228600">
              <a:lnSpc>
                <a:spcPct val="89300"/>
              </a:lnSpc>
              <a:spcBef>
                <a:spcPts val="330"/>
              </a:spcBef>
              <a:buFont typeface="Arial MT"/>
              <a:buChar char="•"/>
              <a:tabLst>
                <a:tab pos="241300" algn="l"/>
              </a:tabLst>
            </a:pPr>
            <a:endParaRPr lang="en-US" u="sng" spc="-10" dirty="0">
              <a:solidFill>
                <a:srgbClr val="467886"/>
              </a:solidFill>
              <a:uFill>
                <a:solidFill>
                  <a:srgbClr val="467886"/>
                </a:solidFill>
              </a:uFill>
            </a:endParaRPr>
          </a:p>
          <a:p>
            <a:pPr marL="241300" marR="170180" indent="-228600">
              <a:lnSpc>
                <a:spcPct val="89300"/>
              </a:lnSpc>
              <a:spcBef>
                <a:spcPts val="33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u="sng" spc="-5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Bahrani, Suyash. (2020). DEEP LEARNING APPROACH FOR INDIAN CURRENCY CLASSIFICATION. International Journal of Engineering Applied Sciences and Technology. 5. 335-340. 10.33564/IJEAST.2020.v05i06.049. </a:t>
            </a:r>
            <a:endParaRPr u="sng" spc="-50" dirty="0">
              <a:solidFill>
                <a:srgbClr val="467886"/>
              </a:solidFill>
              <a:uFill>
                <a:solidFill>
                  <a:srgbClr val="467886"/>
                </a:solidFill>
              </a:u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29639" y="648843"/>
            <a:ext cx="3383279" cy="685800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85"/>
              </a:lnSpc>
            </a:pPr>
            <a:r>
              <a:rPr spc="-10" dirty="0"/>
              <a:t>BIBLIOGRAPHY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728980" cy="6858000"/>
            <a:chOff x="0" y="0"/>
            <a:chExt cx="728980" cy="68580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728980" cy="6858000"/>
            </a:xfrm>
            <a:custGeom>
              <a:avLst/>
              <a:gdLst/>
              <a:ahLst/>
              <a:cxnLst/>
              <a:rect l="l" t="t" r="r" b="b"/>
              <a:pathLst>
                <a:path w="728980" h="6858000">
                  <a:moveTo>
                    <a:pt x="72887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28871" y="6857999"/>
                  </a:lnTo>
                  <a:lnTo>
                    <a:pt x="728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21" y="6077994"/>
              <a:ext cx="664426" cy="6644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9B5-DE2D-28A9-BEA3-5F1504A4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92354CB-710A-F5E5-2686-71C8E7DAD0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76400" y="2286000"/>
            <a:ext cx="9141461" cy="2683748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170180">
              <a:lnSpc>
                <a:spcPct val="89300"/>
              </a:lnSpc>
              <a:spcBef>
                <a:spcPts val="330"/>
              </a:spcBef>
              <a:tabLst>
                <a:tab pos="241300" algn="l"/>
              </a:tabLst>
            </a:pPr>
            <a:r>
              <a:rPr lang="en-US" b="1" spc="-5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                                                </a:t>
            </a:r>
            <a:r>
              <a:rPr lang="en-US" sz="2800" spc="-120" dirty="0">
                <a:latin typeface="Trebuchet MS"/>
                <a:cs typeface="Trebuchet MS"/>
              </a:rPr>
              <a:t>Thank you for listening</a:t>
            </a:r>
          </a:p>
          <a:p>
            <a:pPr marL="12700" marR="170180">
              <a:lnSpc>
                <a:spcPct val="89300"/>
              </a:lnSpc>
              <a:spcBef>
                <a:spcPts val="330"/>
              </a:spcBef>
              <a:tabLst>
                <a:tab pos="241300" algn="l"/>
              </a:tabLst>
            </a:pPr>
            <a:endParaRPr lang="en-US" sz="2800" spc="-120" dirty="0"/>
          </a:p>
          <a:p>
            <a:pPr marL="12700" marR="170180">
              <a:lnSpc>
                <a:spcPct val="89300"/>
              </a:lnSpc>
              <a:spcBef>
                <a:spcPts val="330"/>
              </a:spcBef>
              <a:tabLst>
                <a:tab pos="241300" algn="l"/>
              </a:tabLst>
            </a:pPr>
            <a:r>
              <a:rPr lang="en-US" sz="2800" spc="-120" dirty="0">
                <a:latin typeface="Trebuchet MS"/>
                <a:cs typeface="Trebuchet MS"/>
              </a:rPr>
              <a:t>                                       </a:t>
            </a:r>
          </a:p>
          <a:p>
            <a:pPr marL="12700" marR="170180">
              <a:lnSpc>
                <a:spcPct val="89300"/>
              </a:lnSpc>
              <a:spcBef>
                <a:spcPts val="330"/>
              </a:spcBef>
              <a:tabLst>
                <a:tab pos="241300" algn="l"/>
              </a:tabLst>
            </a:pPr>
            <a:r>
              <a:rPr lang="en-US" sz="2800" spc="-120" dirty="0">
                <a:latin typeface="Trebuchet MS"/>
                <a:cs typeface="Trebuchet MS"/>
              </a:rPr>
              <a:t>                                        </a:t>
            </a:r>
          </a:p>
          <a:p>
            <a:pPr marL="12700" marR="170180">
              <a:lnSpc>
                <a:spcPct val="89300"/>
              </a:lnSpc>
              <a:spcBef>
                <a:spcPts val="330"/>
              </a:spcBef>
              <a:tabLst>
                <a:tab pos="241300" algn="l"/>
              </a:tabLst>
            </a:pPr>
            <a:r>
              <a:rPr lang="en-US" sz="2800" spc="-120" dirty="0"/>
              <a:t>                                        </a:t>
            </a:r>
            <a:r>
              <a:rPr lang="en-US" sz="2800" spc="-120" dirty="0">
                <a:latin typeface="Trebuchet MS"/>
                <a:cs typeface="Trebuchet MS"/>
              </a:rPr>
              <a:t>Any question ?</a:t>
            </a:r>
          </a:p>
          <a:p>
            <a:pPr marL="12700" marR="170180">
              <a:lnSpc>
                <a:spcPct val="89300"/>
              </a:lnSpc>
              <a:spcBef>
                <a:spcPts val="330"/>
              </a:spcBef>
              <a:tabLst>
                <a:tab pos="241300" algn="l"/>
              </a:tabLst>
            </a:pPr>
            <a:endParaRPr lang="en-US" sz="1800" dirty="0">
              <a:latin typeface="Trebuchet MS"/>
              <a:cs typeface="Trebuchet MS"/>
            </a:endParaRPr>
          </a:p>
          <a:p>
            <a:pPr marL="241300" marR="170180" indent="-228600">
              <a:lnSpc>
                <a:spcPct val="89300"/>
              </a:lnSpc>
              <a:spcBef>
                <a:spcPts val="330"/>
              </a:spcBef>
              <a:buFont typeface="Arial MT"/>
              <a:buChar char="•"/>
              <a:tabLst>
                <a:tab pos="241300" algn="l"/>
              </a:tabLst>
            </a:pPr>
            <a:endParaRPr b="1" spc="-50" dirty="0">
              <a:solidFill>
                <a:srgbClr val="467886"/>
              </a:solidFill>
              <a:uFill>
                <a:solidFill>
                  <a:srgbClr val="467886"/>
                </a:solidFill>
              </a:uFill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72728623-4EBE-CB86-5707-069D35BF5622}"/>
              </a:ext>
            </a:extLst>
          </p:cNvPr>
          <p:cNvGrpSpPr/>
          <p:nvPr/>
        </p:nvGrpSpPr>
        <p:grpSpPr>
          <a:xfrm>
            <a:off x="0" y="0"/>
            <a:ext cx="728980" cy="6858000"/>
            <a:chOff x="0" y="0"/>
            <a:chExt cx="728980" cy="6858000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A65E905-AE29-2212-E2FD-5D7480F3E4FD}"/>
                </a:ext>
              </a:extLst>
            </p:cNvPr>
            <p:cNvSpPr/>
            <p:nvPr/>
          </p:nvSpPr>
          <p:spPr>
            <a:xfrm>
              <a:off x="0" y="0"/>
              <a:ext cx="728980" cy="6858000"/>
            </a:xfrm>
            <a:custGeom>
              <a:avLst/>
              <a:gdLst/>
              <a:ahLst/>
              <a:cxnLst/>
              <a:rect l="l" t="t" r="r" b="b"/>
              <a:pathLst>
                <a:path w="728980" h="6858000">
                  <a:moveTo>
                    <a:pt x="72887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28871" y="6857999"/>
                  </a:lnTo>
                  <a:lnTo>
                    <a:pt x="728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2BEB0303-9074-7A56-3FCC-FC197A306E7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21" y="6077994"/>
              <a:ext cx="664426" cy="664426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B00590D-AA4A-D0A1-3285-63C845AB4A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899" y="2819400"/>
            <a:ext cx="1140461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73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</TotalTime>
  <Words>555</Words>
  <Application>Microsoft Office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MT</vt:lpstr>
      <vt:lpstr>Calibri</vt:lpstr>
      <vt:lpstr>Trebuchet MS</vt:lpstr>
      <vt:lpstr>Wingdings</vt:lpstr>
      <vt:lpstr>Office Theme</vt:lpstr>
      <vt:lpstr>Performance Comparison  of Deep Learning Techniques in Naira Classification.</vt:lpstr>
      <vt:lpstr>PROBLEM STATEMENT</vt:lpstr>
      <vt:lpstr>PROPOSED SOLUTION</vt:lpstr>
      <vt:lpstr>DATASET/SURVEY ANALYSIS</vt:lpstr>
      <vt:lpstr>IMPLEMENTATION PLAN</vt:lpstr>
      <vt:lpstr>IMPLEMENTATION PLAN</vt:lpstr>
      <vt:lpstr>MODEL DEPLOYMENT</vt:lpstr>
      <vt:lpstr>Model Evaluation</vt:lpstr>
      <vt:lpstr>Model Evaluation</vt:lpstr>
      <vt:lpstr>Model Evaluation</vt:lpstr>
      <vt:lpstr>A LOOK INTO THE FUTURE</vt:lpstr>
      <vt:lpstr>BIBLIOGRAPHY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GOIT</dc:creator>
  <cp:lastModifiedBy>Akinola Lanre</cp:lastModifiedBy>
  <cp:revision>41</cp:revision>
  <dcterms:created xsi:type="dcterms:W3CDTF">2025-04-21T19:29:00Z</dcterms:created>
  <dcterms:modified xsi:type="dcterms:W3CDTF">2025-04-29T23:23:37Z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2024-06-12T00:00:00Z</vt:filetime>
  </property>
  <property fmtid="{D5CDD505-2E9C-101B-9397-08002B2CF9AE}" pid="3" name="LastSaved">
    <vt:filetime>2025-04-21T00:00:00Z</vt:filetime>
  </property>
  <property fmtid="{D5CDD505-2E9C-101B-9397-08002B2CF9AE}" pid="4" name="Producer">
    <vt:lpwstr>macOS Version 14.5 (Build 23F79) Quartz PDFContext</vt:lpwstr>
  </property>
</Properties>
</file>